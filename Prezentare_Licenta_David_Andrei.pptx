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Bună ziua. Numele meu este David Andrei și vă prezint lucrarea de licență cu titlul "Aplicație mobilă cu integrare hardware pentru optimizarea procesului de parcare în centre comerciale", realizată sub îndrumarea domnului asistent Silvian-Marian Petrică.
Pe scurt, am proiectat și construit un sistem complet de parcare inteligentă, de la componenta fizică cu senzori până la aplicația mobilă, și l-am validat pe o machetă funcțională.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Prezentarea urmează acești pași: pornesc de la problema reală pe care o rezolvă sistemul, apoi descriu soluția și componentele hardware, partea de detecție video, după care vă arăt un scurt demo cu sistemul în funcțiune. La final discutăm rezultatele testării, direcțiile viitoare și concluziile.
(Slide de tranziție rapid — nu insist mult aici.)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Toți am trecut prin asta: intri într-un mall aglomerat și pierzi minute bune învârtindu-te după un loc liber.
Problema nu e doar a noastră, ca șoferi — studiile arată că aproape o treime din traficul din zonele aglomerate este generat de mașini care caută parcare. Asta înseamnă combustibil ars degeaba, emisii suplimentare de CO₂ și zeci de mii de ore pierdute anual.
Sistemele clasice, cu tichet la barieră, nu ajută cu nimic: nu îți spun unde e loc liber. De aici a pornit ideea lucrării — un sistem care îți arată în timp real unde poți parca.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Soluția pe care am construit-o este un ecosistem format din trei straturi care lucrează împreună în timp real.
Primul strat este hardware-ul: o machetă fizică cu microcontrolere ESP32, o cameră și senzori.
Al doilea este serverul, dezvoltat în NestJS, cu o bază de date PostgreSQL, comunicare prin MQTT și procesare video cu OpenCV.
Al treilea este aplicația mobilă, scrisă în Flutter, cu un modul pentru utilizator și unul pentru administrator.
Cheia este că toate cele trei comunică instantaneu — când o mașină parchează, informația ajunge în câteva momente în telefonul utilizatorului.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Componenta de control și acces este creierul fizic al sistemului.
Microcontrolerul ESP32 este nodul central — el coordonează totul și comunică prin protocolul MQTT. Modulul ESP32-CAM transmite fluxul video către server.
La barieră, un scanner GM65 citește codul QR al utilizatorului în mai puțin de 400 de milisecunde. Servomotoarele acționează fizic barierele de intrare și ieșire.
Iar pentru ghidaj, banda LED și ecranul LCD afișează starea fiecărui loc — verde pentru liber, roșu pentru ocupat, albastru pentru rezervat.
În dreapta vedeți macheta reală, văzută de 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lângă control, sistemul monitorizează și siguranța din parcare, care într-un spațiu închis este esențială.
Senzorul MQ-2 detectează gaze combustibile — metan, propan, GPL. Aici e important de precizat: el acoperă riscul de scurgere de combustibil. Pentru gazele toxice de eșapament, standardul european EN 50545-1 cere senzori dedicați de monoxid de carbon și oxizi de azot, care controlează ventilația parcării. Componenta mea ilustrează principiul.
Senzorul de flacără detectează radiația infraroșie a unui incendiu — același principiu pe care îl folosesc detectoarele profesionale certificate EN 54-10.
Mai am un senzor BME280 pentru microclimat și un senzor de viteză la intrare.
Dacă mă întrebați de standarde: componentele sunt demonstrative, dar un sistem comercial ar folosi senzori certificați conform acestor norme. Aceasta este o observație de scalare de la prototip la producție.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Detecția locurilor libere se face vizual, prin procesare de imagine.
Camera ESP32-CAM transmite un flux video în timp real către server. Acolo, pentru fiecare loc de parcare am definit o regiune de interes — practic, o zonă din imagine pe care o monitorizez, de la A1 până la B5.
Algoritmul analizează acea zonă: prin analiză de prag și numărarea pixelilor, determină dacă locul e ocupat sau liber.
Rezultatul este apoi validat cu senzorii infraroșu și salvat în baza de date, de unde ajunge instantaneu în aplicație.
Practic, sistemul vede parcarea exact ca o cameră de supraveghere, dar înțelege ce e în fiecare 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în loc să vă descriu aplicația ecran cu ecran, prefer să vă arăt direct sistemul în funcțiune.
[DĂ PLAY PE VIDEO]
În acest demo vedeți fluxul complet: utilizatorul scanează codul QR la barieră, sistemul îi alocă un loc, bariera se deschide, iar pe machetă LED-ul locului devine albastru. Camera detectează când mașina parchează și actualizează harta din aplicație în timp real. La ieșire, sesiunea se închide și se calculează costul automat.
[DUPĂ VIDEO]
Deci tot ce am descris până acum — hardware, detecție video, aplicație — funcționează integrat, pe macheta reală.
(NOTĂ pentru mine: video-ul trebuie să fie sub ~90 secunde ca să încadrez cele 5 minute. Dacă rămân fără timp, las video-ul să ruleze și comentez peste el scurt.)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După ce am construit sistemul, l-am testat pe macheta fizică, măsurând performanța reală.
Cititorul de QR răspunde în sub 400 de milisecunde. Latența totală a fluxului de acces — de la scanare până la deschiderea barierei — este de aproximativ o secundă și două zecimi.
Detecția locurilor are o acuratețe de peste 99%, iar sistemul a funcționat continuu pe parcursul testelor fără întreruperi.
(NOTĂ: verifică să spui cifrele exacte din lucrare — astea sunt orientative.)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Sistemul are o bază solidă peste care se pot construi mai multe extinderi.
Prima, cu impact direct pentru utilizator, ar fi navigarea GIS în interior — să corelez harta parcării cu planul mall-ului și să ghidez șoferul pas cu pas până la locul alocat, pe modelul Waze Indoor.
A doua direcție este înlocuirea algoritmului OpenCV cu un model de inteligență artificială, gen YOLOv8, mai robust în condiții variabile de lumină.
Apoi, recunoașterea plăcuțelor de înmatriculare ar permite accesul fără aplicație, iar pe termen lung, arhitectura permite o platformă SaaS care să gestioneze mai multe parcări dintr-un singur sistem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concluzie:
Am reușit să proiectez și să construiesc un sistem Smart Parking complet și funcțional, pe care l-am validat pe o machetă reală, nu doar teoretic.
Sistemul integrează cele trei straturi — hardware, procesare video și aplicație mobilă — care comunică în timp real.
Funcționalități precum rezervarea locurilor și ghidajul luminos sunt deja implementate, cu tarif configurabil de administrator.
Și, foarte important, arhitectura este modulară, deci poate fi extinsă natural spre toate direcțiile pe care le-am menționat.
Vă mulțumesc și aștept întrebările dumneavoastră.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final. Rămâi relaxat, menții contactul vizual cu comisia și aștepți întrebările.
Întrebări posibile pentru care să fii pregătit:
- De ce MQTT și nu HTTP? (comunicare ușoară, în timp real, ideală pentru IoT)
- Cum gestionezi securitatea? (bcrypt pentru parole, JWT pentru sesiuni, autentificare biometrică)
- Ce te faci dacă pică conexiunea? (sistemul are reconectare automată MQTT)
- Standarde senzori gaz/flacără — vezi notele de la slide 6 (EN 50545-1, EN 54-10).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1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5B8C3E"/>
          </a:solidFill>
          <a:ln/>
        </p:spPr>
      </p:sp>
      <p:sp>
        <p:nvSpPr>
          <p:cNvPr id="3" name="Text 1"/>
          <p:cNvSpPr/>
          <p:nvPr/>
        </p:nvSpPr>
        <p:spPr>
          <a:xfrm>
            <a:off x="731520" y="822960"/>
            <a:ext cx="10058400" cy="457200"/>
          </a:xfrm>
          <a:prstGeom prst="rect">
            <a:avLst/>
          </a:prstGeom>
          <a:noFill/>
          <a:ln/>
        </p:spPr>
        <p:txBody>
          <a:bodyPr wrap="square" rtlCol="0" anchor="ctr"/>
          <a:lstStyle/>
          <a:p>
            <a:pPr indent="0" marL="0">
              <a:buNone/>
            </a:pPr>
            <a:r>
              <a:rPr lang="en-US" sz="1600" b="1" spc="300" kern="0" dirty="0">
                <a:solidFill>
                  <a:srgbClr val="8FBC5A"/>
                </a:solidFill>
                <a:latin typeface="Calibri" pitchFamily="34" charset="0"/>
                <a:ea typeface="Calibri" pitchFamily="34" charset="-122"/>
                <a:cs typeface="Calibri" pitchFamily="34" charset="-120"/>
              </a:rPr>
              <a:t>LUCRARE DE LICENȚĂ</a:t>
            </a:r>
            <a:endParaRPr lang="en-US" sz="1600" dirty="0"/>
          </a:p>
        </p:txBody>
      </p:sp>
      <p:sp>
        <p:nvSpPr>
          <p:cNvPr id="4" name="Text 2"/>
          <p:cNvSpPr/>
          <p:nvPr/>
        </p:nvSpPr>
        <p:spPr>
          <a:xfrm>
            <a:off x="731520" y="1463040"/>
            <a:ext cx="10515600" cy="1645920"/>
          </a:xfrm>
          <a:prstGeom prst="rect">
            <a:avLst/>
          </a:prstGeom>
          <a:noFill/>
          <a:ln/>
        </p:spPr>
        <p:txBody>
          <a:bodyPr wrap="square" rtlCol="0" anchor="ctr"/>
          <a:lstStyle/>
          <a:p>
            <a:pPr indent="0" marL="0">
              <a:lnSpc>
                <a:spcPct val="105000"/>
              </a:lnSpc>
              <a:buNone/>
            </a:pPr>
            <a:r>
              <a:rPr lang="en-US" sz="3100" b="1" dirty="0">
                <a:solidFill>
                  <a:srgbClr val="FFFFFF"/>
                </a:solidFill>
                <a:latin typeface="Calibri" pitchFamily="34" charset="0"/>
                <a:ea typeface="Calibri" pitchFamily="34" charset="-122"/>
                <a:cs typeface="Calibri" pitchFamily="34" charset="-120"/>
              </a:rPr>
              <a:t>Aplicație mobilă cu integrare hardware pentru optimizarea procesului de parcare în centre comerciale</a:t>
            </a:r>
            <a:endParaRPr lang="en-US" sz="3100" dirty="0"/>
          </a:p>
        </p:txBody>
      </p:sp>
      <p:sp>
        <p:nvSpPr>
          <p:cNvPr id="5" name="Shape 3"/>
          <p:cNvSpPr/>
          <p:nvPr/>
        </p:nvSpPr>
        <p:spPr>
          <a:xfrm>
            <a:off x="777240" y="3429000"/>
            <a:ext cx="3657600" cy="0"/>
          </a:xfrm>
          <a:prstGeom prst="line">
            <a:avLst/>
          </a:prstGeom>
          <a:noFill/>
          <a:ln w="25400">
            <a:solidFill>
              <a:srgbClr val="5B8C3E"/>
            </a:solidFill>
            <a:prstDash val="solid"/>
          </a:ln>
        </p:spPr>
      </p:sp>
      <p:sp>
        <p:nvSpPr>
          <p:cNvPr id="6" name="Text 4"/>
          <p:cNvSpPr/>
          <p:nvPr/>
        </p:nvSpPr>
        <p:spPr>
          <a:xfrm>
            <a:off x="731520" y="3794760"/>
            <a:ext cx="10058400" cy="365760"/>
          </a:xfrm>
          <a:prstGeom prst="rect">
            <a:avLst/>
          </a:prstGeom>
          <a:noFill/>
          <a:ln/>
        </p:spPr>
        <p:txBody>
          <a:bodyPr wrap="square" rtlCol="0" anchor="ctr"/>
          <a:lstStyle/>
          <a:p>
            <a:pPr indent="0" marL="0">
              <a:buNone/>
            </a:pPr>
            <a:r>
              <a:rPr lang="en-US" sz="1700" b="1" dirty="0">
                <a:solidFill>
                  <a:srgbClr val="8FBC5A"/>
                </a:solidFill>
                <a:latin typeface="Calibri" pitchFamily="34" charset="0"/>
                <a:ea typeface="Calibri" pitchFamily="34" charset="-122"/>
                <a:cs typeface="Calibri" pitchFamily="34" charset="-120"/>
              </a:rPr>
              <a:t>Student: </a:t>
            </a:r>
            <a:pPr indent="0" marL="0">
              <a:buNone/>
            </a:pPr>
            <a:r>
              <a:rPr lang="en-US" sz="1700" dirty="0">
                <a:solidFill>
                  <a:srgbClr val="FFFFFF"/>
                </a:solidFill>
                <a:latin typeface="Calibri" pitchFamily="34" charset="0"/>
                <a:ea typeface="Calibri" pitchFamily="34" charset="-122"/>
                <a:cs typeface="Calibri" pitchFamily="34" charset="-120"/>
              </a:rPr>
              <a:t>David Andrei</a:t>
            </a:r>
            <a:endParaRPr lang="en-US" sz="1700" dirty="0"/>
          </a:p>
        </p:txBody>
      </p:sp>
      <p:sp>
        <p:nvSpPr>
          <p:cNvPr id="7" name="Text 5"/>
          <p:cNvSpPr/>
          <p:nvPr/>
        </p:nvSpPr>
        <p:spPr>
          <a:xfrm>
            <a:off x="731520" y="4206240"/>
            <a:ext cx="10058400" cy="365760"/>
          </a:xfrm>
          <a:prstGeom prst="rect">
            <a:avLst/>
          </a:prstGeom>
          <a:noFill/>
          <a:ln/>
        </p:spPr>
        <p:txBody>
          <a:bodyPr wrap="square" rtlCol="0" anchor="ctr"/>
          <a:lstStyle/>
          <a:p>
            <a:pPr indent="0" marL="0">
              <a:buNone/>
            </a:pPr>
            <a:r>
              <a:rPr lang="en-US" sz="1700" b="1" dirty="0">
                <a:solidFill>
                  <a:srgbClr val="8FBC5A"/>
                </a:solidFill>
                <a:latin typeface="Calibri" pitchFamily="34" charset="0"/>
                <a:ea typeface="Calibri" pitchFamily="34" charset="-122"/>
                <a:cs typeface="Calibri" pitchFamily="34" charset="-120"/>
              </a:rPr>
              <a:t>Coordonator științific: </a:t>
            </a:r>
            <a:pPr indent="0" marL="0">
              <a:buNone/>
            </a:pPr>
            <a:r>
              <a:rPr lang="en-US" sz="1700" dirty="0">
                <a:solidFill>
                  <a:srgbClr val="FFFFFF"/>
                </a:solidFill>
                <a:latin typeface="Calibri" pitchFamily="34" charset="0"/>
                <a:ea typeface="Calibri" pitchFamily="34" charset="-122"/>
                <a:cs typeface="Calibri" pitchFamily="34" charset="-120"/>
              </a:rPr>
              <a:t>Asist. univ. drd. ing. Petrică Silvian-Marian</a:t>
            </a:r>
            <a:endParaRPr lang="en-US" sz="1700" dirty="0"/>
          </a:p>
        </p:txBody>
      </p:sp>
      <p:sp>
        <p:nvSpPr>
          <p:cNvPr id="8" name="Text 6"/>
          <p:cNvSpPr/>
          <p:nvPr/>
        </p:nvSpPr>
        <p:spPr>
          <a:xfrm>
            <a:off x="731520" y="4709160"/>
            <a:ext cx="10058400" cy="365760"/>
          </a:xfrm>
          <a:prstGeom prst="rect">
            <a:avLst/>
          </a:prstGeom>
          <a:noFill/>
          <a:ln/>
        </p:spPr>
        <p:txBody>
          <a:bodyPr wrap="square" rtlCol="0" anchor="ctr"/>
          <a:lstStyle/>
          <a:p>
            <a:pPr indent="0" marL="0">
              <a:buNone/>
            </a:pPr>
            <a:r>
              <a:rPr lang="en-US" sz="1400" dirty="0">
                <a:solidFill>
                  <a:srgbClr val="9AB89A"/>
                </a:solidFill>
                <a:latin typeface="Calibri" pitchFamily="34" charset="0"/>
                <a:ea typeface="Calibri" pitchFamily="34" charset="-122"/>
                <a:cs typeface="Calibri" pitchFamily="34" charset="-120"/>
              </a:rPr>
              <a:t>Facultatea de Hidroinginerie și Managementul Resurselor de Apă</a:t>
            </a:r>
            <a:endParaRPr lang="en-US" sz="1400" dirty="0"/>
          </a:p>
        </p:txBody>
      </p:sp>
      <p:sp>
        <p:nvSpPr>
          <p:cNvPr id="9" name="Text 7"/>
          <p:cNvSpPr/>
          <p:nvPr/>
        </p:nvSpPr>
        <p:spPr>
          <a:xfrm>
            <a:off x="731520" y="5029200"/>
            <a:ext cx="10058400" cy="365760"/>
          </a:xfrm>
          <a:prstGeom prst="rect">
            <a:avLst/>
          </a:prstGeom>
          <a:noFill/>
          <a:ln/>
        </p:spPr>
        <p:txBody>
          <a:bodyPr wrap="square" rtlCol="0" anchor="ctr"/>
          <a:lstStyle/>
          <a:p>
            <a:pPr indent="0" marL="0">
              <a:buNone/>
            </a:pPr>
            <a:r>
              <a:rPr lang="en-US" sz="1400" dirty="0">
                <a:solidFill>
                  <a:srgbClr val="9AB89A"/>
                </a:solidFill>
                <a:latin typeface="Calibri" pitchFamily="34" charset="0"/>
                <a:ea typeface="Calibri" pitchFamily="34" charset="-122"/>
                <a:cs typeface="Calibri" pitchFamily="34" charset="-120"/>
              </a:rPr>
              <a:t>Automatică și Informatică Aplicată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indent="0" marL="0">
              <a:buNone/>
            </a:pPr>
            <a:r>
              <a:rPr lang="en-US" sz="3000" b="1" dirty="0">
                <a:solidFill>
                  <a:srgbClr val="2C5F2D"/>
                </a:solidFill>
                <a:latin typeface="Calibri" pitchFamily="34" charset="0"/>
                <a:ea typeface="Calibri" pitchFamily="34" charset="-122"/>
                <a:cs typeface="Calibri" pitchFamily="34" charset="-120"/>
              </a:rPr>
              <a:t>Cuprins</a:t>
            </a:r>
            <a:endParaRPr lang="en-US" sz="3000" dirty="0"/>
          </a:p>
        </p:txBody>
      </p:sp>
      <p:sp>
        <p:nvSpPr>
          <p:cNvPr id="3" name="Shape 1"/>
          <p:cNvSpPr/>
          <p:nvPr/>
        </p:nvSpPr>
        <p:spPr>
          <a:xfrm>
            <a:off x="594360" y="1143000"/>
            <a:ext cx="2011680" cy="0"/>
          </a:xfrm>
          <a:prstGeom prst="line">
            <a:avLst/>
          </a:prstGeom>
          <a:noFill/>
          <a:ln w="38100">
            <a:solidFill>
              <a:srgbClr val="5B8C3E"/>
            </a:solidFill>
            <a:prstDash val="solid"/>
          </a:ln>
        </p:spPr>
      </p:sp>
      <p:sp>
        <p:nvSpPr>
          <p:cNvPr id="4" name="Shape 2"/>
          <p:cNvSpPr/>
          <p:nvPr/>
        </p:nvSpPr>
        <p:spPr>
          <a:xfrm>
            <a:off x="822960" y="1600200"/>
            <a:ext cx="502920" cy="502920"/>
          </a:xfrm>
          <a:prstGeom prst="ellipse">
            <a:avLst/>
          </a:prstGeom>
          <a:solidFill>
            <a:srgbClr val="2C5F2D"/>
          </a:solidFill>
          <a:ln/>
        </p:spPr>
      </p:sp>
      <p:sp>
        <p:nvSpPr>
          <p:cNvPr id="5" name="Text 3"/>
          <p:cNvSpPr/>
          <p:nvPr/>
        </p:nvSpPr>
        <p:spPr>
          <a:xfrm>
            <a:off x="822960" y="16002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508760" y="16002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Motivația temei și contextul problemei</a:t>
            </a:r>
            <a:endParaRPr lang="en-US" sz="1500" dirty="0"/>
          </a:p>
        </p:txBody>
      </p:sp>
      <p:sp>
        <p:nvSpPr>
          <p:cNvPr id="7" name="Shape 5"/>
          <p:cNvSpPr/>
          <p:nvPr/>
        </p:nvSpPr>
        <p:spPr>
          <a:xfrm>
            <a:off x="822960" y="2514600"/>
            <a:ext cx="502920" cy="502920"/>
          </a:xfrm>
          <a:prstGeom prst="ellipse">
            <a:avLst/>
          </a:prstGeom>
          <a:solidFill>
            <a:srgbClr val="2C5F2D"/>
          </a:solidFill>
          <a:ln/>
        </p:spPr>
      </p:sp>
      <p:sp>
        <p:nvSpPr>
          <p:cNvPr id="8" name="Text 6"/>
          <p:cNvSpPr/>
          <p:nvPr/>
        </p:nvSpPr>
        <p:spPr>
          <a:xfrm>
            <a:off x="822960" y="25146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508760" y="25146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Soluția propusă — ecosistemul Smart Parking</a:t>
            </a:r>
            <a:endParaRPr lang="en-US" sz="1500" dirty="0"/>
          </a:p>
        </p:txBody>
      </p:sp>
      <p:sp>
        <p:nvSpPr>
          <p:cNvPr id="10" name="Shape 8"/>
          <p:cNvSpPr/>
          <p:nvPr/>
        </p:nvSpPr>
        <p:spPr>
          <a:xfrm>
            <a:off x="822960" y="3429000"/>
            <a:ext cx="502920" cy="502920"/>
          </a:xfrm>
          <a:prstGeom prst="ellipse">
            <a:avLst/>
          </a:prstGeom>
          <a:solidFill>
            <a:srgbClr val="2C5F2D"/>
          </a:solidFill>
          <a:ln/>
        </p:spPr>
      </p:sp>
      <p:sp>
        <p:nvSpPr>
          <p:cNvPr id="11" name="Text 9"/>
          <p:cNvSpPr/>
          <p:nvPr/>
        </p:nvSpPr>
        <p:spPr>
          <a:xfrm>
            <a:off x="822960" y="34290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508760" y="34290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Hardware: control și acces</a:t>
            </a:r>
            <a:endParaRPr lang="en-US" sz="1500" dirty="0"/>
          </a:p>
        </p:txBody>
      </p:sp>
      <p:sp>
        <p:nvSpPr>
          <p:cNvPr id="13" name="Shape 11"/>
          <p:cNvSpPr/>
          <p:nvPr/>
        </p:nvSpPr>
        <p:spPr>
          <a:xfrm>
            <a:off x="822960" y="4343400"/>
            <a:ext cx="502920" cy="502920"/>
          </a:xfrm>
          <a:prstGeom prst="ellipse">
            <a:avLst/>
          </a:prstGeom>
          <a:solidFill>
            <a:srgbClr val="2C5F2D"/>
          </a:solidFill>
          <a:ln/>
        </p:spPr>
      </p:sp>
      <p:sp>
        <p:nvSpPr>
          <p:cNvPr id="14" name="Text 12"/>
          <p:cNvSpPr/>
          <p:nvPr/>
        </p:nvSpPr>
        <p:spPr>
          <a:xfrm>
            <a:off x="822960" y="43434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5" name="Text 13"/>
          <p:cNvSpPr/>
          <p:nvPr/>
        </p:nvSpPr>
        <p:spPr>
          <a:xfrm>
            <a:off x="1508760" y="43434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Hardware: siguranță și monitorizare</a:t>
            </a:r>
            <a:endParaRPr lang="en-US" sz="1500" dirty="0"/>
          </a:p>
        </p:txBody>
      </p:sp>
      <p:sp>
        <p:nvSpPr>
          <p:cNvPr id="16" name="Shape 14"/>
          <p:cNvSpPr/>
          <p:nvPr/>
        </p:nvSpPr>
        <p:spPr>
          <a:xfrm>
            <a:off x="822960" y="5257800"/>
            <a:ext cx="502920" cy="502920"/>
          </a:xfrm>
          <a:prstGeom prst="ellipse">
            <a:avLst/>
          </a:prstGeom>
          <a:solidFill>
            <a:srgbClr val="2C5F2D"/>
          </a:solidFill>
          <a:ln/>
        </p:spPr>
      </p:sp>
      <p:sp>
        <p:nvSpPr>
          <p:cNvPr id="17" name="Text 15"/>
          <p:cNvSpPr/>
          <p:nvPr/>
        </p:nvSpPr>
        <p:spPr>
          <a:xfrm>
            <a:off x="822960" y="52578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8" name="Text 16"/>
          <p:cNvSpPr/>
          <p:nvPr/>
        </p:nvSpPr>
        <p:spPr>
          <a:xfrm>
            <a:off x="1508760" y="52578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Detecție vizuală prin OpenCV</a:t>
            </a:r>
            <a:endParaRPr lang="en-US" sz="1500" dirty="0"/>
          </a:p>
        </p:txBody>
      </p:sp>
      <p:sp>
        <p:nvSpPr>
          <p:cNvPr id="19" name="Shape 17"/>
          <p:cNvSpPr/>
          <p:nvPr/>
        </p:nvSpPr>
        <p:spPr>
          <a:xfrm>
            <a:off x="6400800" y="1600200"/>
            <a:ext cx="502920" cy="502920"/>
          </a:xfrm>
          <a:prstGeom prst="ellipse">
            <a:avLst/>
          </a:prstGeom>
          <a:solidFill>
            <a:srgbClr val="2C5F2D"/>
          </a:solidFill>
          <a:ln/>
        </p:spPr>
      </p:sp>
      <p:sp>
        <p:nvSpPr>
          <p:cNvPr id="20" name="Text 18"/>
          <p:cNvSpPr/>
          <p:nvPr/>
        </p:nvSpPr>
        <p:spPr>
          <a:xfrm>
            <a:off x="6400800" y="16002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1" name="Text 19"/>
          <p:cNvSpPr/>
          <p:nvPr/>
        </p:nvSpPr>
        <p:spPr>
          <a:xfrm>
            <a:off x="7086600" y="16002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Demo video — sistemul în funcțiune</a:t>
            </a:r>
            <a:endParaRPr lang="en-US" sz="1500" dirty="0"/>
          </a:p>
        </p:txBody>
      </p:sp>
      <p:sp>
        <p:nvSpPr>
          <p:cNvPr id="22" name="Shape 20"/>
          <p:cNvSpPr/>
          <p:nvPr/>
        </p:nvSpPr>
        <p:spPr>
          <a:xfrm>
            <a:off x="6400800" y="2514600"/>
            <a:ext cx="502920" cy="502920"/>
          </a:xfrm>
          <a:prstGeom prst="ellipse">
            <a:avLst/>
          </a:prstGeom>
          <a:solidFill>
            <a:srgbClr val="2C5F2D"/>
          </a:solidFill>
          <a:ln/>
        </p:spPr>
      </p:sp>
      <p:sp>
        <p:nvSpPr>
          <p:cNvPr id="23" name="Text 21"/>
          <p:cNvSpPr/>
          <p:nvPr/>
        </p:nvSpPr>
        <p:spPr>
          <a:xfrm>
            <a:off x="6400800" y="25146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4" name="Text 22"/>
          <p:cNvSpPr/>
          <p:nvPr/>
        </p:nvSpPr>
        <p:spPr>
          <a:xfrm>
            <a:off x="7086600" y="25146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Validarea și testarea sistemului</a:t>
            </a:r>
            <a:endParaRPr lang="en-US" sz="1500" dirty="0"/>
          </a:p>
        </p:txBody>
      </p:sp>
      <p:sp>
        <p:nvSpPr>
          <p:cNvPr id="25" name="Shape 23"/>
          <p:cNvSpPr/>
          <p:nvPr/>
        </p:nvSpPr>
        <p:spPr>
          <a:xfrm>
            <a:off x="6400800" y="3429000"/>
            <a:ext cx="502920" cy="502920"/>
          </a:xfrm>
          <a:prstGeom prst="ellipse">
            <a:avLst/>
          </a:prstGeom>
          <a:solidFill>
            <a:srgbClr val="2C5F2D"/>
          </a:solidFill>
          <a:ln/>
        </p:spPr>
      </p:sp>
      <p:sp>
        <p:nvSpPr>
          <p:cNvPr id="26" name="Text 24"/>
          <p:cNvSpPr/>
          <p:nvPr/>
        </p:nvSpPr>
        <p:spPr>
          <a:xfrm>
            <a:off x="6400800" y="34290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27" name="Text 25"/>
          <p:cNvSpPr/>
          <p:nvPr/>
        </p:nvSpPr>
        <p:spPr>
          <a:xfrm>
            <a:off x="7086600" y="34290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Direcții viitoare de dezvoltare</a:t>
            </a:r>
            <a:endParaRPr lang="en-US" sz="1500" dirty="0"/>
          </a:p>
        </p:txBody>
      </p:sp>
      <p:sp>
        <p:nvSpPr>
          <p:cNvPr id="28" name="Shape 26"/>
          <p:cNvSpPr/>
          <p:nvPr/>
        </p:nvSpPr>
        <p:spPr>
          <a:xfrm>
            <a:off x="6400800" y="4343400"/>
            <a:ext cx="502920" cy="502920"/>
          </a:xfrm>
          <a:prstGeom prst="ellipse">
            <a:avLst/>
          </a:prstGeom>
          <a:solidFill>
            <a:srgbClr val="2C5F2D"/>
          </a:solidFill>
          <a:ln/>
        </p:spPr>
      </p:sp>
      <p:sp>
        <p:nvSpPr>
          <p:cNvPr id="29" name="Text 27"/>
          <p:cNvSpPr/>
          <p:nvPr/>
        </p:nvSpPr>
        <p:spPr>
          <a:xfrm>
            <a:off x="6400800" y="43434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30" name="Text 28"/>
          <p:cNvSpPr/>
          <p:nvPr/>
        </p:nvSpPr>
        <p:spPr>
          <a:xfrm>
            <a:off x="7086600" y="4343400"/>
            <a:ext cx="4937760" cy="502920"/>
          </a:xfrm>
          <a:prstGeom prst="rect">
            <a:avLst/>
          </a:prstGeom>
          <a:noFill/>
          <a:ln/>
        </p:spPr>
        <p:txBody>
          <a:bodyPr wrap="square" rtlCol="0" anchor="ctr"/>
          <a:lstStyle/>
          <a:p>
            <a:pPr indent="0" marL="0">
              <a:buNone/>
            </a:pPr>
            <a:r>
              <a:rPr lang="en-US" sz="1500" dirty="0">
                <a:solidFill>
                  <a:srgbClr val="1A2E1A"/>
                </a:solidFill>
                <a:latin typeface="Calibri" pitchFamily="34" charset="0"/>
                <a:ea typeface="Calibri" pitchFamily="34" charset="-122"/>
                <a:cs typeface="Calibri" pitchFamily="34" charset="-120"/>
              </a:rPr>
              <a:t>Concluzii</a:t>
            </a:r>
            <a:endParaRPr lang="en-US" sz="1500" dirty="0"/>
          </a:p>
        </p:txBody>
      </p:sp>
      <p:sp>
        <p:nvSpPr>
          <p:cNvPr id="31" name="Text 29"/>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32" name="Text 30"/>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01 · CONTEXT</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Motivația temei</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Text 3"/>
          <p:cNvSpPr/>
          <p:nvPr/>
        </p:nvSpPr>
        <p:spPr>
          <a:xfrm>
            <a:off x="548640" y="1600200"/>
            <a:ext cx="5486400" cy="1463040"/>
          </a:xfrm>
          <a:prstGeom prst="rect">
            <a:avLst/>
          </a:prstGeom>
          <a:noFill/>
          <a:ln/>
        </p:spPr>
        <p:txBody>
          <a:bodyPr wrap="square" rtlCol="0" anchor="t"/>
          <a:lstStyle/>
          <a:p>
            <a:pPr indent="0" marL="0">
              <a:lnSpc>
                <a:spcPct val="120000"/>
              </a:lnSpc>
              <a:buNone/>
            </a:pPr>
            <a:r>
              <a:rPr lang="en-US" sz="1600" dirty="0">
                <a:solidFill>
                  <a:srgbClr val="1A2E1A"/>
                </a:solidFill>
                <a:latin typeface="Calibri" pitchFamily="34" charset="0"/>
                <a:ea typeface="Calibri" pitchFamily="34" charset="-122"/>
                <a:cs typeface="Calibri" pitchFamily="34" charset="-120"/>
              </a:rPr>
              <a:t>Căutarea unui loc de parcare în centrele comerciale generează timp pierdut, consum de combustibil și congestie inutilă. Sistemele clasice cu tichet nu oferă informații despre disponibilitatea locurilor.</a:t>
            </a:r>
            <a:endParaRPr lang="en-US" sz="1600" dirty="0"/>
          </a:p>
        </p:txBody>
      </p:sp>
      <p:sp>
        <p:nvSpPr>
          <p:cNvPr id="6" name="Shape 4"/>
          <p:cNvSpPr/>
          <p:nvPr/>
        </p:nvSpPr>
        <p:spPr>
          <a:xfrm>
            <a:off x="6400800" y="1600200"/>
            <a:ext cx="5212080" cy="1188720"/>
          </a:xfrm>
          <a:prstGeom prst="roundRect">
            <a:avLst>
              <a:gd name="adj" fmla="val 7692"/>
            </a:avLst>
          </a:prstGeom>
          <a:solidFill>
            <a:srgbClr val="FFFFFF"/>
          </a:solidFill>
          <a:ln w="12700">
            <a:solidFill>
              <a:srgbClr val="DDE5D8"/>
            </a:solidFill>
            <a:prstDash val="solid"/>
          </a:ln>
          <a:effectLst>
            <a:outerShdw sx="100000" sy="100000" kx="0" ky="0" algn="bl" rotWithShape="0" blurRad="76200" dist="25400" dir="16200000">
              <a:srgbClr val="CCCCCC">
                <a:alpha val="40000"/>
              </a:srgbClr>
            </a:outerShdw>
          </a:effectLst>
        </p:spPr>
      </p:sp>
      <p:sp>
        <p:nvSpPr>
          <p:cNvPr id="7" name="Text 5"/>
          <p:cNvSpPr/>
          <p:nvPr/>
        </p:nvSpPr>
        <p:spPr>
          <a:xfrm>
            <a:off x="6583680" y="1737360"/>
            <a:ext cx="1828800" cy="914400"/>
          </a:xfrm>
          <a:prstGeom prst="rect">
            <a:avLst/>
          </a:prstGeom>
          <a:noFill/>
          <a:ln/>
        </p:spPr>
        <p:txBody>
          <a:bodyPr wrap="square" rtlCol="0" anchor="ctr"/>
          <a:lstStyle/>
          <a:p>
            <a:pPr algn="ctr" indent="0" marL="0">
              <a:buNone/>
            </a:pPr>
            <a:r>
              <a:rPr lang="en-US" sz="4000" b="1" dirty="0">
                <a:solidFill>
                  <a:srgbClr val="2C5F2D"/>
                </a:solidFill>
                <a:latin typeface="Calibri" pitchFamily="34" charset="0"/>
                <a:ea typeface="Calibri" pitchFamily="34" charset="-122"/>
                <a:cs typeface="Calibri" pitchFamily="34" charset="-120"/>
              </a:rPr>
              <a:t>30%</a:t>
            </a:r>
            <a:endParaRPr lang="en-US" sz="4000" dirty="0"/>
          </a:p>
        </p:txBody>
      </p:sp>
      <p:sp>
        <p:nvSpPr>
          <p:cNvPr id="8" name="Text 6"/>
          <p:cNvSpPr/>
          <p:nvPr/>
        </p:nvSpPr>
        <p:spPr>
          <a:xfrm>
            <a:off x="8503920" y="1737360"/>
            <a:ext cx="2926080" cy="914400"/>
          </a:xfrm>
          <a:prstGeom prst="rect">
            <a:avLst/>
          </a:prstGeom>
          <a:noFill/>
          <a:ln/>
        </p:spPr>
        <p:txBody>
          <a:bodyPr wrap="square" rtlCol="0" anchor="ctr"/>
          <a:lstStyle/>
          <a:p>
            <a:pPr indent="0" marL="0">
              <a:buNone/>
            </a:pPr>
            <a:r>
              <a:rPr lang="en-US" sz="1400" dirty="0">
                <a:solidFill>
                  <a:srgbClr val="5A6B5A"/>
                </a:solidFill>
                <a:latin typeface="Calibri" pitchFamily="34" charset="0"/>
                <a:ea typeface="Calibri" pitchFamily="34" charset="-122"/>
                <a:cs typeface="Calibri" pitchFamily="34" charset="-120"/>
              </a:rPr>
              <a:t>din trafic urban caută un loc de parcare</a:t>
            </a:r>
            <a:endParaRPr lang="en-US" sz="1400" dirty="0"/>
          </a:p>
        </p:txBody>
      </p:sp>
      <p:sp>
        <p:nvSpPr>
          <p:cNvPr id="9" name="Shape 7"/>
          <p:cNvSpPr/>
          <p:nvPr/>
        </p:nvSpPr>
        <p:spPr>
          <a:xfrm>
            <a:off x="6400800" y="2971800"/>
            <a:ext cx="5212080" cy="1188720"/>
          </a:xfrm>
          <a:prstGeom prst="roundRect">
            <a:avLst>
              <a:gd name="adj" fmla="val 7692"/>
            </a:avLst>
          </a:prstGeom>
          <a:solidFill>
            <a:srgbClr val="FFFFFF"/>
          </a:solidFill>
          <a:ln w="12700">
            <a:solidFill>
              <a:srgbClr val="DDE5D8"/>
            </a:solidFill>
            <a:prstDash val="solid"/>
          </a:ln>
          <a:effectLst>
            <a:outerShdw sx="100000" sy="100000" kx="0" ky="0" algn="bl" rotWithShape="0" blurRad="76200" dist="25400" dir="16200000">
              <a:srgbClr val="CCCCCC">
                <a:alpha val="40000"/>
              </a:srgbClr>
            </a:outerShdw>
          </a:effectLst>
        </p:spPr>
      </p:sp>
      <p:sp>
        <p:nvSpPr>
          <p:cNvPr id="10" name="Text 8"/>
          <p:cNvSpPr/>
          <p:nvPr/>
        </p:nvSpPr>
        <p:spPr>
          <a:xfrm>
            <a:off x="6583680" y="3108960"/>
            <a:ext cx="1828800" cy="914400"/>
          </a:xfrm>
          <a:prstGeom prst="rect">
            <a:avLst/>
          </a:prstGeom>
          <a:noFill/>
          <a:ln/>
        </p:spPr>
        <p:txBody>
          <a:bodyPr wrap="square" rtlCol="0" anchor="ctr"/>
          <a:lstStyle/>
          <a:p>
            <a:pPr algn="ctr" indent="0" marL="0">
              <a:buNone/>
            </a:pPr>
            <a:r>
              <a:rPr lang="en-US" sz="4000" b="1" dirty="0">
                <a:solidFill>
                  <a:srgbClr val="2C5F2D"/>
                </a:solidFill>
                <a:latin typeface="Calibri" pitchFamily="34" charset="0"/>
                <a:ea typeface="Calibri" pitchFamily="34" charset="-122"/>
                <a:cs typeface="Calibri" pitchFamily="34" charset="-120"/>
              </a:rPr>
              <a:t>~730</a:t>
            </a:r>
            <a:endParaRPr lang="en-US" sz="4000" dirty="0"/>
          </a:p>
        </p:txBody>
      </p:sp>
      <p:sp>
        <p:nvSpPr>
          <p:cNvPr id="11" name="Text 9"/>
          <p:cNvSpPr/>
          <p:nvPr/>
        </p:nvSpPr>
        <p:spPr>
          <a:xfrm>
            <a:off x="8503920" y="3108960"/>
            <a:ext cx="2926080" cy="914400"/>
          </a:xfrm>
          <a:prstGeom prst="rect">
            <a:avLst/>
          </a:prstGeom>
          <a:noFill/>
          <a:ln/>
        </p:spPr>
        <p:txBody>
          <a:bodyPr wrap="square" rtlCol="0" anchor="ctr"/>
          <a:lstStyle/>
          <a:p>
            <a:pPr indent="0" marL="0">
              <a:buNone/>
            </a:pPr>
            <a:r>
              <a:rPr lang="en-US" sz="1400" dirty="0">
                <a:solidFill>
                  <a:srgbClr val="5A6B5A"/>
                </a:solidFill>
                <a:latin typeface="Calibri" pitchFamily="34" charset="0"/>
                <a:ea typeface="Calibri" pitchFamily="34" charset="-122"/>
                <a:cs typeface="Calibri" pitchFamily="34" charset="-120"/>
              </a:rPr>
              <a:t>tone CO₂ emise anual, suplimentar</a:t>
            </a:r>
            <a:endParaRPr lang="en-US" sz="1400" dirty="0"/>
          </a:p>
        </p:txBody>
      </p:sp>
      <p:sp>
        <p:nvSpPr>
          <p:cNvPr id="12" name="Shape 10"/>
          <p:cNvSpPr/>
          <p:nvPr/>
        </p:nvSpPr>
        <p:spPr>
          <a:xfrm>
            <a:off x="6400800" y="4343400"/>
            <a:ext cx="5212080" cy="1188720"/>
          </a:xfrm>
          <a:prstGeom prst="roundRect">
            <a:avLst>
              <a:gd name="adj" fmla="val 7692"/>
            </a:avLst>
          </a:prstGeom>
          <a:solidFill>
            <a:srgbClr val="FFFFFF"/>
          </a:solidFill>
          <a:ln w="12700">
            <a:solidFill>
              <a:srgbClr val="DDE5D8"/>
            </a:solidFill>
            <a:prstDash val="solid"/>
          </a:ln>
          <a:effectLst>
            <a:outerShdw sx="100000" sy="100000" kx="0" ky="0" algn="bl" rotWithShape="0" blurRad="76200" dist="25400" dir="16200000">
              <a:srgbClr val="CCCCCC">
                <a:alpha val="40000"/>
              </a:srgbClr>
            </a:outerShdw>
          </a:effectLst>
        </p:spPr>
      </p:sp>
      <p:sp>
        <p:nvSpPr>
          <p:cNvPr id="13" name="Text 11"/>
          <p:cNvSpPr/>
          <p:nvPr/>
        </p:nvSpPr>
        <p:spPr>
          <a:xfrm>
            <a:off x="6583680" y="4480560"/>
            <a:ext cx="1828800" cy="914400"/>
          </a:xfrm>
          <a:prstGeom prst="rect">
            <a:avLst/>
          </a:prstGeom>
          <a:noFill/>
          <a:ln/>
        </p:spPr>
        <p:txBody>
          <a:bodyPr wrap="square" rtlCol="0" anchor="ctr"/>
          <a:lstStyle/>
          <a:p>
            <a:pPr algn="ctr" indent="0" marL="0">
              <a:buNone/>
            </a:pPr>
            <a:r>
              <a:rPr lang="en-US" sz="4000" b="1" dirty="0">
                <a:solidFill>
                  <a:srgbClr val="2C5F2D"/>
                </a:solidFill>
                <a:latin typeface="Calibri" pitchFamily="34" charset="0"/>
                <a:ea typeface="Calibri" pitchFamily="34" charset="-122"/>
                <a:cs typeface="Calibri" pitchFamily="34" charset="-120"/>
              </a:rPr>
              <a:t>95.000</a:t>
            </a:r>
            <a:endParaRPr lang="en-US" sz="4000" dirty="0"/>
          </a:p>
        </p:txBody>
      </p:sp>
      <p:sp>
        <p:nvSpPr>
          <p:cNvPr id="14" name="Text 12"/>
          <p:cNvSpPr/>
          <p:nvPr/>
        </p:nvSpPr>
        <p:spPr>
          <a:xfrm>
            <a:off x="8503920" y="4480560"/>
            <a:ext cx="2926080" cy="914400"/>
          </a:xfrm>
          <a:prstGeom prst="rect">
            <a:avLst/>
          </a:prstGeom>
          <a:noFill/>
          <a:ln/>
        </p:spPr>
        <p:txBody>
          <a:bodyPr wrap="square" rtlCol="0" anchor="ctr"/>
          <a:lstStyle/>
          <a:p>
            <a:pPr indent="0" marL="0">
              <a:buNone/>
            </a:pPr>
            <a:r>
              <a:rPr lang="en-US" sz="1400" dirty="0">
                <a:solidFill>
                  <a:srgbClr val="5A6B5A"/>
                </a:solidFill>
                <a:latin typeface="Calibri" pitchFamily="34" charset="0"/>
                <a:ea typeface="Calibri" pitchFamily="34" charset="-122"/>
                <a:cs typeface="Calibri" pitchFamily="34" charset="-120"/>
              </a:rPr>
              <a:t>ore pierdute anual în trafic</a:t>
            </a:r>
            <a:endParaRPr lang="en-US" sz="1400" dirty="0"/>
          </a:p>
        </p:txBody>
      </p:sp>
      <p:sp>
        <p:nvSpPr>
          <p:cNvPr id="15" name="Text 13"/>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16" name="Text 14"/>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02 · SOLUȚIA</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Ecosistemul Smart Parking</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Text 3"/>
          <p:cNvSpPr/>
          <p:nvPr/>
        </p:nvSpPr>
        <p:spPr>
          <a:xfrm>
            <a:off x="548640" y="1600200"/>
            <a:ext cx="10972800" cy="731520"/>
          </a:xfrm>
          <a:prstGeom prst="rect">
            <a:avLst/>
          </a:prstGeom>
          <a:noFill/>
          <a:ln/>
        </p:spPr>
        <p:txBody>
          <a:bodyPr wrap="square" rtlCol="0" anchor="ctr"/>
          <a:lstStyle/>
          <a:p>
            <a:pPr indent="0" marL="0">
              <a:lnSpc>
                <a:spcPct val="120000"/>
              </a:lnSpc>
              <a:buNone/>
            </a:pPr>
            <a:r>
              <a:rPr lang="en-US" sz="1600" dirty="0">
                <a:solidFill>
                  <a:srgbClr val="1A2E1A"/>
                </a:solidFill>
                <a:latin typeface="Calibri" pitchFamily="34" charset="0"/>
                <a:ea typeface="Calibri" pitchFamily="34" charset="-122"/>
                <a:cs typeface="Calibri" pitchFamily="34" charset="-120"/>
              </a:rPr>
              <a:t>Sistemul integrează trei straturi care comunică în timp real: componenta fizică (machetă cu senzori), serverul de procesare și aplicația mobilă.</a:t>
            </a:r>
            <a:endParaRPr lang="en-US" sz="1600" dirty="0"/>
          </a:p>
        </p:txBody>
      </p:sp>
      <p:sp>
        <p:nvSpPr>
          <p:cNvPr id="6" name="Shape 4"/>
          <p:cNvSpPr/>
          <p:nvPr/>
        </p:nvSpPr>
        <p:spPr>
          <a:xfrm>
            <a:off x="640080" y="2651760"/>
            <a:ext cx="3474720" cy="2377440"/>
          </a:xfrm>
          <a:prstGeom prst="roundRect">
            <a:avLst>
              <a:gd name="adj" fmla="val 4615"/>
            </a:avLst>
          </a:prstGeom>
          <a:solidFill>
            <a:srgbClr val="5B8C3E"/>
          </a:solidFill>
          <a:ln/>
        </p:spPr>
      </p:sp>
      <p:sp>
        <p:nvSpPr>
          <p:cNvPr id="7" name="Text 5"/>
          <p:cNvSpPr/>
          <p:nvPr/>
        </p:nvSpPr>
        <p:spPr>
          <a:xfrm>
            <a:off x="640080" y="2926080"/>
            <a:ext cx="3474720" cy="457200"/>
          </a:xfrm>
          <a:prstGeom prst="rect">
            <a:avLst/>
          </a:prstGeom>
          <a:noFill/>
          <a:ln/>
        </p:spPr>
        <p:txBody>
          <a:bodyPr wrap="square" rtlCol="0" anchor="ctr"/>
          <a:lstStyle/>
          <a:p>
            <a:pPr algn="ctr" indent="0" marL="0">
              <a:buNone/>
            </a:pPr>
            <a:r>
              <a:rPr lang="en-US" sz="2000" b="1" spc="200" kern="0" dirty="0">
                <a:solidFill>
                  <a:srgbClr val="FFFFFF"/>
                </a:solidFill>
                <a:latin typeface="Calibri" pitchFamily="34" charset="0"/>
                <a:ea typeface="Calibri" pitchFamily="34" charset="-122"/>
                <a:cs typeface="Calibri" pitchFamily="34" charset="-120"/>
              </a:rPr>
              <a:t>HARDWARE</a:t>
            </a:r>
            <a:endParaRPr lang="en-US" sz="2000" dirty="0"/>
          </a:p>
        </p:txBody>
      </p:sp>
      <p:sp>
        <p:nvSpPr>
          <p:cNvPr id="8" name="Text 6"/>
          <p:cNvSpPr/>
          <p:nvPr/>
        </p:nvSpPr>
        <p:spPr>
          <a:xfrm>
            <a:off x="822960" y="3566160"/>
            <a:ext cx="3108960" cy="1280160"/>
          </a:xfrm>
          <a:prstGeom prst="rect">
            <a:avLst/>
          </a:prstGeom>
          <a:noFill/>
          <a:ln/>
        </p:spPr>
        <p:txBody>
          <a:bodyPr wrap="square" rtlCol="0" anchor="ctr"/>
          <a:lstStyle/>
          <a:p>
            <a:pPr algn="ctr" indent="0" marL="0">
              <a:lnSpc>
                <a:spcPct val="130000"/>
              </a:lnSpc>
              <a:buNone/>
            </a:pPr>
            <a:r>
              <a:rPr lang="en-US" sz="1400" dirty="0">
                <a:solidFill>
                  <a:srgbClr val="EAF2E4"/>
                </a:solidFill>
                <a:latin typeface="Calibri" pitchFamily="34" charset="0"/>
                <a:ea typeface="Calibri" pitchFamily="34" charset="-122"/>
                <a:cs typeface="Calibri" pitchFamily="34" charset="-120"/>
              </a:rPr>
              <a:t>ESP32 · ESP32-CAM · senzori</a:t>
            </a:r>
            <a:endParaRPr lang="en-US" sz="1400" dirty="0"/>
          </a:p>
          <a:p>
            <a:pPr algn="ctr" indent="0" marL="0">
              <a:lnSpc>
                <a:spcPct val="130000"/>
              </a:lnSpc>
              <a:buNone/>
            </a:pPr>
            <a:r>
              <a:rPr lang="en-US" sz="1400" dirty="0">
                <a:solidFill>
                  <a:srgbClr val="EAF2E4"/>
                </a:solidFill>
                <a:latin typeface="Calibri" pitchFamily="34" charset="0"/>
                <a:ea typeface="Calibri" pitchFamily="34" charset="-122"/>
                <a:cs typeface="Calibri" pitchFamily="34" charset="-120"/>
              </a:rPr>
              <a:t>Machetă fizică funcțională</a:t>
            </a:r>
            <a:endParaRPr lang="en-US" sz="1400" dirty="0"/>
          </a:p>
        </p:txBody>
      </p:sp>
      <p:sp>
        <p:nvSpPr>
          <p:cNvPr id="9" name="Text 7"/>
          <p:cNvSpPr/>
          <p:nvPr/>
        </p:nvSpPr>
        <p:spPr>
          <a:xfrm>
            <a:off x="4069080" y="3291840"/>
            <a:ext cx="411480" cy="914400"/>
          </a:xfrm>
          <a:prstGeom prst="rect">
            <a:avLst/>
          </a:prstGeom>
          <a:noFill/>
          <a:ln/>
        </p:spPr>
        <p:txBody>
          <a:bodyPr wrap="square" rtlCol="0" anchor="ctr"/>
          <a:lstStyle/>
          <a:p>
            <a:pPr algn="ctr" indent="0" marL="0">
              <a:buNone/>
            </a:pPr>
            <a:r>
              <a:rPr lang="en-US" sz="2800" b="1" dirty="0">
                <a:solidFill>
                  <a:srgbClr val="5B8C3E"/>
                </a:solidFill>
              </a:rPr>
              <a:t>→</a:t>
            </a:r>
            <a:endParaRPr lang="en-US" sz="2800" dirty="0"/>
          </a:p>
        </p:txBody>
      </p:sp>
      <p:sp>
        <p:nvSpPr>
          <p:cNvPr id="10" name="Shape 8"/>
          <p:cNvSpPr/>
          <p:nvPr/>
        </p:nvSpPr>
        <p:spPr>
          <a:xfrm>
            <a:off x="4434840" y="2651760"/>
            <a:ext cx="3474720" cy="2377440"/>
          </a:xfrm>
          <a:prstGeom prst="roundRect">
            <a:avLst>
              <a:gd name="adj" fmla="val 4615"/>
            </a:avLst>
          </a:prstGeom>
          <a:solidFill>
            <a:srgbClr val="2C5F2D"/>
          </a:solidFill>
          <a:ln/>
        </p:spPr>
      </p:sp>
      <p:sp>
        <p:nvSpPr>
          <p:cNvPr id="11" name="Text 9"/>
          <p:cNvSpPr/>
          <p:nvPr/>
        </p:nvSpPr>
        <p:spPr>
          <a:xfrm>
            <a:off x="4434840" y="2926080"/>
            <a:ext cx="3474720" cy="457200"/>
          </a:xfrm>
          <a:prstGeom prst="rect">
            <a:avLst/>
          </a:prstGeom>
          <a:noFill/>
          <a:ln/>
        </p:spPr>
        <p:txBody>
          <a:bodyPr wrap="square" rtlCol="0" anchor="ctr"/>
          <a:lstStyle/>
          <a:p>
            <a:pPr algn="ctr" indent="0" marL="0">
              <a:buNone/>
            </a:pPr>
            <a:r>
              <a:rPr lang="en-US" sz="2000" b="1" spc="200" kern="0" dirty="0">
                <a:solidFill>
                  <a:srgbClr val="FFFFFF"/>
                </a:solidFill>
                <a:latin typeface="Calibri" pitchFamily="34" charset="0"/>
                <a:ea typeface="Calibri" pitchFamily="34" charset="-122"/>
                <a:cs typeface="Calibri" pitchFamily="34" charset="-120"/>
              </a:rPr>
              <a:t>SERVER</a:t>
            </a:r>
            <a:endParaRPr lang="en-US" sz="2000" dirty="0"/>
          </a:p>
        </p:txBody>
      </p:sp>
      <p:sp>
        <p:nvSpPr>
          <p:cNvPr id="12" name="Text 10"/>
          <p:cNvSpPr/>
          <p:nvPr/>
        </p:nvSpPr>
        <p:spPr>
          <a:xfrm>
            <a:off x="4617720" y="3566160"/>
            <a:ext cx="3108960" cy="1280160"/>
          </a:xfrm>
          <a:prstGeom prst="rect">
            <a:avLst/>
          </a:prstGeom>
          <a:noFill/>
          <a:ln/>
        </p:spPr>
        <p:txBody>
          <a:bodyPr wrap="square" rtlCol="0" anchor="ctr"/>
          <a:lstStyle/>
          <a:p>
            <a:pPr algn="ctr" indent="0" marL="0">
              <a:lnSpc>
                <a:spcPct val="130000"/>
              </a:lnSpc>
              <a:buNone/>
            </a:pPr>
            <a:r>
              <a:rPr lang="en-US" sz="1400" dirty="0">
                <a:solidFill>
                  <a:srgbClr val="EAF2E4"/>
                </a:solidFill>
                <a:latin typeface="Calibri" pitchFamily="34" charset="0"/>
                <a:ea typeface="Calibri" pitchFamily="34" charset="-122"/>
                <a:cs typeface="Calibri" pitchFamily="34" charset="-120"/>
              </a:rPr>
              <a:t>NestJS · PostgreSQL · MQTT</a:t>
            </a:r>
            <a:endParaRPr lang="en-US" sz="1400" dirty="0"/>
          </a:p>
          <a:p>
            <a:pPr algn="ctr" indent="0" marL="0">
              <a:lnSpc>
                <a:spcPct val="130000"/>
              </a:lnSpc>
              <a:buNone/>
            </a:pPr>
            <a:r>
              <a:rPr lang="en-US" sz="1400" dirty="0">
                <a:solidFill>
                  <a:srgbClr val="EAF2E4"/>
                </a:solidFill>
                <a:latin typeface="Calibri" pitchFamily="34" charset="0"/>
                <a:ea typeface="Calibri" pitchFamily="34" charset="-122"/>
                <a:cs typeface="Calibri" pitchFamily="34" charset="-120"/>
              </a:rPr>
              <a:t>OpenCV pentru detecție video</a:t>
            </a:r>
            <a:endParaRPr lang="en-US" sz="1400" dirty="0"/>
          </a:p>
        </p:txBody>
      </p:sp>
      <p:sp>
        <p:nvSpPr>
          <p:cNvPr id="13" name="Text 11"/>
          <p:cNvSpPr/>
          <p:nvPr/>
        </p:nvSpPr>
        <p:spPr>
          <a:xfrm>
            <a:off x="7863840" y="3291840"/>
            <a:ext cx="411480" cy="914400"/>
          </a:xfrm>
          <a:prstGeom prst="rect">
            <a:avLst/>
          </a:prstGeom>
          <a:noFill/>
          <a:ln/>
        </p:spPr>
        <p:txBody>
          <a:bodyPr wrap="square" rtlCol="0" anchor="ctr"/>
          <a:lstStyle/>
          <a:p>
            <a:pPr algn="ctr" indent="0" marL="0">
              <a:buNone/>
            </a:pPr>
            <a:r>
              <a:rPr lang="en-US" sz="2800" b="1" dirty="0">
                <a:solidFill>
                  <a:srgbClr val="5B8C3E"/>
                </a:solidFill>
              </a:rPr>
              <a:t>→</a:t>
            </a:r>
            <a:endParaRPr lang="en-US" sz="2800" dirty="0"/>
          </a:p>
        </p:txBody>
      </p:sp>
      <p:sp>
        <p:nvSpPr>
          <p:cNvPr id="14" name="Shape 12"/>
          <p:cNvSpPr/>
          <p:nvPr/>
        </p:nvSpPr>
        <p:spPr>
          <a:xfrm>
            <a:off x="8229600" y="2651760"/>
            <a:ext cx="3474720" cy="2377440"/>
          </a:xfrm>
          <a:prstGeom prst="roundRect">
            <a:avLst>
              <a:gd name="adj" fmla="val 4615"/>
            </a:avLst>
          </a:prstGeom>
          <a:solidFill>
            <a:srgbClr val="1A2E1A"/>
          </a:solidFill>
          <a:ln/>
        </p:spPr>
      </p:sp>
      <p:sp>
        <p:nvSpPr>
          <p:cNvPr id="15" name="Text 13"/>
          <p:cNvSpPr/>
          <p:nvPr/>
        </p:nvSpPr>
        <p:spPr>
          <a:xfrm>
            <a:off x="8229600" y="2926080"/>
            <a:ext cx="3474720" cy="457200"/>
          </a:xfrm>
          <a:prstGeom prst="rect">
            <a:avLst/>
          </a:prstGeom>
          <a:noFill/>
          <a:ln/>
        </p:spPr>
        <p:txBody>
          <a:bodyPr wrap="square" rtlCol="0" anchor="ctr"/>
          <a:lstStyle/>
          <a:p>
            <a:pPr algn="ctr" indent="0" marL="0">
              <a:buNone/>
            </a:pPr>
            <a:r>
              <a:rPr lang="en-US" sz="2000" b="1" spc="200" kern="0" dirty="0">
                <a:solidFill>
                  <a:srgbClr val="FFFFFF"/>
                </a:solidFill>
                <a:latin typeface="Calibri" pitchFamily="34" charset="0"/>
                <a:ea typeface="Calibri" pitchFamily="34" charset="-122"/>
                <a:cs typeface="Calibri" pitchFamily="34" charset="-120"/>
              </a:rPr>
              <a:t>APLICAȚIE</a:t>
            </a:r>
            <a:endParaRPr lang="en-US" sz="2000" dirty="0"/>
          </a:p>
        </p:txBody>
      </p:sp>
      <p:sp>
        <p:nvSpPr>
          <p:cNvPr id="16" name="Text 14"/>
          <p:cNvSpPr/>
          <p:nvPr/>
        </p:nvSpPr>
        <p:spPr>
          <a:xfrm>
            <a:off x="8412480" y="3566160"/>
            <a:ext cx="3108960" cy="1280160"/>
          </a:xfrm>
          <a:prstGeom prst="rect">
            <a:avLst/>
          </a:prstGeom>
          <a:noFill/>
          <a:ln/>
        </p:spPr>
        <p:txBody>
          <a:bodyPr wrap="square" rtlCol="0" anchor="ctr"/>
          <a:lstStyle/>
          <a:p>
            <a:pPr algn="ctr" indent="0" marL="0">
              <a:lnSpc>
                <a:spcPct val="130000"/>
              </a:lnSpc>
              <a:buNone/>
            </a:pPr>
            <a:r>
              <a:rPr lang="en-US" sz="1400" dirty="0">
                <a:solidFill>
                  <a:srgbClr val="EAF2E4"/>
                </a:solidFill>
                <a:latin typeface="Calibri" pitchFamily="34" charset="0"/>
                <a:ea typeface="Calibri" pitchFamily="34" charset="-122"/>
                <a:cs typeface="Calibri" pitchFamily="34" charset="-120"/>
              </a:rPr>
              <a:t>Flutter (Dart)</a:t>
            </a:r>
            <a:endParaRPr lang="en-US" sz="1400" dirty="0"/>
          </a:p>
          <a:p>
            <a:pPr algn="ctr" indent="0" marL="0">
              <a:lnSpc>
                <a:spcPct val="130000"/>
              </a:lnSpc>
              <a:buNone/>
            </a:pPr>
            <a:r>
              <a:rPr lang="en-US" sz="1400" dirty="0">
                <a:solidFill>
                  <a:srgbClr val="EAF2E4"/>
                </a:solidFill>
                <a:latin typeface="Calibri" pitchFamily="34" charset="0"/>
                <a:ea typeface="Calibri" pitchFamily="34" charset="-122"/>
                <a:cs typeface="Calibri" pitchFamily="34" charset="-120"/>
              </a:rPr>
              <a:t>Modul utilizator + administrator</a:t>
            </a:r>
            <a:endParaRPr lang="en-US" sz="1400" dirty="0"/>
          </a:p>
        </p:txBody>
      </p:sp>
      <p:sp>
        <p:nvSpPr>
          <p:cNvPr id="17" name="Text 15"/>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18" name="Text 16"/>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03 · HARDWARE</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Control și acces</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Shape 3"/>
          <p:cNvSpPr/>
          <p:nvPr/>
        </p:nvSpPr>
        <p:spPr>
          <a:xfrm>
            <a:off x="548640" y="1600200"/>
            <a:ext cx="6035040" cy="777240"/>
          </a:xfrm>
          <a:prstGeom prst="roundRect">
            <a:avLst>
              <a:gd name="adj" fmla="val 9412"/>
            </a:avLst>
          </a:prstGeom>
          <a:solidFill>
            <a:srgbClr val="FFFFFF"/>
          </a:solidFill>
          <a:ln w="12700">
            <a:solidFill>
              <a:srgbClr val="DDE5D8"/>
            </a:solidFill>
            <a:prstDash val="solid"/>
          </a:ln>
        </p:spPr>
      </p:sp>
      <p:sp>
        <p:nvSpPr>
          <p:cNvPr id="6" name="Shape 4"/>
          <p:cNvSpPr/>
          <p:nvPr/>
        </p:nvSpPr>
        <p:spPr>
          <a:xfrm>
            <a:off x="731520" y="1801368"/>
            <a:ext cx="384048" cy="384048"/>
          </a:xfrm>
          <a:prstGeom prst="ellipse">
            <a:avLst/>
          </a:prstGeom>
          <a:solidFill>
            <a:srgbClr val="5B8C3E"/>
          </a:solidFill>
          <a:ln/>
        </p:spPr>
      </p:sp>
      <p:sp>
        <p:nvSpPr>
          <p:cNvPr id="7" name="Text 5"/>
          <p:cNvSpPr/>
          <p:nvPr/>
        </p:nvSpPr>
        <p:spPr>
          <a:xfrm>
            <a:off x="1325880" y="1691640"/>
            <a:ext cx="51206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ESP32 DevKit</a:t>
            </a:r>
            <a:endParaRPr lang="en-US" sz="1400" dirty="0"/>
          </a:p>
        </p:txBody>
      </p:sp>
      <p:sp>
        <p:nvSpPr>
          <p:cNvPr id="8" name="Text 6"/>
          <p:cNvSpPr/>
          <p:nvPr/>
        </p:nvSpPr>
        <p:spPr>
          <a:xfrm>
            <a:off x="1325880" y="1993392"/>
            <a:ext cx="5120640" cy="32004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Nod central — logica de acces și comunicare MQTT</a:t>
            </a:r>
            <a:endParaRPr lang="en-US" sz="1150" dirty="0"/>
          </a:p>
        </p:txBody>
      </p:sp>
      <p:sp>
        <p:nvSpPr>
          <p:cNvPr id="9" name="Shape 7"/>
          <p:cNvSpPr/>
          <p:nvPr/>
        </p:nvSpPr>
        <p:spPr>
          <a:xfrm>
            <a:off x="548640" y="2514600"/>
            <a:ext cx="6035040" cy="777240"/>
          </a:xfrm>
          <a:prstGeom prst="roundRect">
            <a:avLst>
              <a:gd name="adj" fmla="val 9412"/>
            </a:avLst>
          </a:prstGeom>
          <a:solidFill>
            <a:srgbClr val="FFFFFF"/>
          </a:solidFill>
          <a:ln w="12700">
            <a:solidFill>
              <a:srgbClr val="DDE5D8"/>
            </a:solidFill>
            <a:prstDash val="solid"/>
          </a:ln>
        </p:spPr>
      </p:sp>
      <p:sp>
        <p:nvSpPr>
          <p:cNvPr id="10" name="Shape 8"/>
          <p:cNvSpPr/>
          <p:nvPr/>
        </p:nvSpPr>
        <p:spPr>
          <a:xfrm>
            <a:off x="731520" y="2715768"/>
            <a:ext cx="384048" cy="384048"/>
          </a:xfrm>
          <a:prstGeom prst="ellipse">
            <a:avLst/>
          </a:prstGeom>
          <a:solidFill>
            <a:srgbClr val="5B8C3E"/>
          </a:solidFill>
          <a:ln/>
        </p:spPr>
      </p:sp>
      <p:sp>
        <p:nvSpPr>
          <p:cNvPr id="11" name="Text 9"/>
          <p:cNvSpPr/>
          <p:nvPr/>
        </p:nvSpPr>
        <p:spPr>
          <a:xfrm>
            <a:off x="1325880" y="2606040"/>
            <a:ext cx="51206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ESP32-CAM</a:t>
            </a:r>
            <a:endParaRPr lang="en-US" sz="1400" dirty="0"/>
          </a:p>
        </p:txBody>
      </p:sp>
      <p:sp>
        <p:nvSpPr>
          <p:cNvPr id="12" name="Text 10"/>
          <p:cNvSpPr/>
          <p:nvPr/>
        </p:nvSpPr>
        <p:spPr>
          <a:xfrm>
            <a:off x="1325880" y="2907792"/>
            <a:ext cx="5120640" cy="32004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Streaming video MJPEG către serverul de procesare</a:t>
            </a:r>
            <a:endParaRPr lang="en-US" sz="1150" dirty="0"/>
          </a:p>
        </p:txBody>
      </p:sp>
      <p:sp>
        <p:nvSpPr>
          <p:cNvPr id="13" name="Shape 11"/>
          <p:cNvSpPr/>
          <p:nvPr/>
        </p:nvSpPr>
        <p:spPr>
          <a:xfrm>
            <a:off x="548640" y="3429000"/>
            <a:ext cx="6035040" cy="777240"/>
          </a:xfrm>
          <a:prstGeom prst="roundRect">
            <a:avLst>
              <a:gd name="adj" fmla="val 9412"/>
            </a:avLst>
          </a:prstGeom>
          <a:solidFill>
            <a:srgbClr val="FFFFFF"/>
          </a:solidFill>
          <a:ln w="12700">
            <a:solidFill>
              <a:srgbClr val="DDE5D8"/>
            </a:solidFill>
            <a:prstDash val="solid"/>
          </a:ln>
        </p:spPr>
      </p:sp>
      <p:sp>
        <p:nvSpPr>
          <p:cNvPr id="14" name="Shape 12"/>
          <p:cNvSpPr/>
          <p:nvPr/>
        </p:nvSpPr>
        <p:spPr>
          <a:xfrm>
            <a:off x="731520" y="3630168"/>
            <a:ext cx="384048" cy="384048"/>
          </a:xfrm>
          <a:prstGeom prst="ellipse">
            <a:avLst/>
          </a:prstGeom>
          <a:solidFill>
            <a:srgbClr val="5B8C3E"/>
          </a:solidFill>
          <a:ln/>
        </p:spPr>
      </p:sp>
      <p:sp>
        <p:nvSpPr>
          <p:cNvPr id="15" name="Text 13"/>
          <p:cNvSpPr/>
          <p:nvPr/>
        </p:nvSpPr>
        <p:spPr>
          <a:xfrm>
            <a:off x="1325880" y="3520440"/>
            <a:ext cx="51206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Scanner GM65</a:t>
            </a:r>
            <a:endParaRPr lang="en-US" sz="1400" dirty="0"/>
          </a:p>
        </p:txBody>
      </p:sp>
      <p:sp>
        <p:nvSpPr>
          <p:cNvPr id="16" name="Text 14"/>
          <p:cNvSpPr/>
          <p:nvPr/>
        </p:nvSpPr>
        <p:spPr>
          <a:xfrm>
            <a:off x="1325880" y="3822192"/>
            <a:ext cx="5120640" cy="32004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Citirea codului QR al utilizatorului în sub 400 ms</a:t>
            </a:r>
            <a:endParaRPr lang="en-US" sz="1150" dirty="0"/>
          </a:p>
        </p:txBody>
      </p:sp>
      <p:sp>
        <p:nvSpPr>
          <p:cNvPr id="17" name="Shape 15"/>
          <p:cNvSpPr/>
          <p:nvPr/>
        </p:nvSpPr>
        <p:spPr>
          <a:xfrm>
            <a:off x="548640" y="4343400"/>
            <a:ext cx="6035040" cy="777240"/>
          </a:xfrm>
          <a:prstGeom prst="roundRect">
            <a:avLst>
              <a:gd name="adj" fmla="val 9412"/>
            </a:avLst>
          </a:prstGeom>
          <a:solidFill>
            <a:srgbClr val="FFFFFF"/>
          </a:solidFill>
          <a:ln w="12700">
            <a:solidFill>
              <a:srgbClr val="DDE5D8"/>
            </a:solidFill>
            <a:prstDash val="solid"/>
          </a:ln>
        </p:spPr>
      </p:sp>
      <p:sp>
        <p:nvSpPr>
          <p:cNvPr id="18" name="Shape 16"/>
          <p:cNvSpPr/>
          <p:nvPr/>
        </p:nvSpPr>
        <p:spPr>
          <a:xfrm>
            <a:off x="731520" y="4544568"/>
            <a:ext cx="384048" cy="384048"/>
          </a:xfrm>
          <a:prstGeom prst="ellipse">
            <a:avLst/>
          </a:prstGeom>
          <a:solidFill>
            <a:srgbClr val="5B8C3E"/>
          </a:solidFill>
          <a:ln/>
        </p:spPr>
      </p:sp>
      <p:sp>
        <p:nvSpPr>
          <p:cNvPr id="19" name="Text 17"/>
          <p:cNvSpPr/>
          <p:nvPr/>
        </p:nvSpPr>
        <p:spPr>
          <a:xfrm>
            <a:off x="1325880" y="4434840"/>
            <a:ext cx="51206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Servomotoare SG90</a:t>
            </a:r>
            <a:endParaRPr lang="en-US" sz="1400" dirty="0"/>
          </a:p>
        </p:txBody>
      </p:sp>
      <p:sp>
        <p:nvSpPr>
          <p:cNvPr id="20" name="Text 18"/>
          <p:cNvSpPr/>
          <p:nvPr/>
        </p:nvSpPr>
        <p:spPr>
          <a:xfrm>
            <a:off x="1325880" y="4736592"/>
            <a:ext cx="5120640" cy="32004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Acționarea fizică a barierelor de intrare/ieșire</a:t>
            </a:r>
            <a:endParaRPr lang="en-US" sz="1150" dirty="0"/>
          </a:p>
        </p:txBody>
      </p:sp>
      <p:sp>
        <p:nvSpPr>
          <p:cNvPr id="21" name="Shape 19"/>
          <p:cNvSpPr/>
          <p:nvPr/>
        </p:nvSpPr>
        <p:spPr>
          <a:xfrm>
            <a:off x="548640" y="5257800"/>
            <a:ext cx="6035040" cy="777240"/>
          </a:xfrm>
          <a:prstGeom prst="roundRect">
            <a:avLst>
              <a:gd name="adj" fmla="val 9412"/>
            </a:avLst>
          </a:prstGeom>
          <a:solidFill>
            <a:srgbClr val="FFFFFF"/>
          </a:solidFill>
          <a:ln w="12700">
            <a:solidFill>
              <a:srgbClr val="DDE5D8"/>
            </a:solidFill>
            <a:prstDash val="solid"/>
          </a:ln>
        </p:spPr>
      </p:sp>
      <p:sp>
        <p:nvSpPr>
          <p:cNvPr id="22" name="Shape 20"/>
          <p:cNvSpPr/>
          <p:nvPr/>
        </p:nvSpPr>
        <p:spPr>
          <a:xfrm>
            <a:off x="731520" y="5458968"/>
            <a:ext cx="384048" cy="384048"/>
          </a:xfrm>
          <a:prstGeom prst="ellipse">
            <a:avLst/>
          </a:prstGeom>
          <a:solidFill>
            <a:srgbClr val="5B8C3E"/>
          </a:solidFill>
          <a:ln/>
        </p:spPr>
      </p:sp>
      <p:sp>
        <p:nvSpPr>
          <p:cNvPr id="23" name="Text 21"/>
          <p:cNvSpPr/>
          <p:nvPr/>
        </p:nvSpPr>
        <p:spPr>
          <a:xfrm>
            <a:off x="1325880" y="5349240"/>
            <a:ext cx="51206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LCD &amp; bandă LED</a:t>
            </a:r>
            <a:endParaRPr lang="en-US" sz="1400" dirty="0"/>
          </a:p>
        </p:txBody>
      </p:sp>
      <p:sp>
        <p:nvSpPr>
          <p:cNvPr id="24" name="Text 22"/>
          <p:cNvSpPr/>
          <p:nvPr/>
        </p:nvSpPr>
        <p:spPr>
          <a:xfrm>
            <a:off x="1325880" y="5650992"/>
            <a:ext cx="5120640" cy="32004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Afișaj status și ghidaj luminos: verde / roșu / albastru</a:t>
            </a:r>
            <a:endParaRPr lang="en-US" sz="1150" dirty="0"/>
          </a:p>
        </p:txBody>
      </p:sp>
      <p:pic>
        <p:nvPicPr>
          <p:cNvPr id="25" name="Image 0" descr="/tmp/macheta.jpg">    </p:cNvPr>
          <p:cNvPicPr>
            <a:picLocks noChangeAspect="1"/>
          </p:cNvPicPr>
          <p:nvPr/>
        </p:nvPicPr>
        <p:blipFill>
          <a:blip r:embed="rId1"/>
          <a:srcRect l="0" r="0" t="0" b="0"/>
          <a:stretch/>
        </p:blipFill>
        <p:spPr>
          <a:xfrm>
            <a:off x="6949440" y="1600200"/>
            <a:ext cx="4663440" cy="4572000"/>
          </a:xfrm>
          <a:prstGeom prst="ellipse">
            <a:avLst/>
          </a:prstGeom>
        </p:spPr>
      </p:pic>
      <p:sp>
        <p:nvSpPr>
          <p:cNvPr id="26" name="Text 23"/>
          <p:cNvSpPr/>
          <p:nvPr/>
        </p:nvSpPr>
        <p:spPr>
          <a:xfrm>
            <a:off x="6949440" y="6172200"/>
            <a:ext cx="4663440" cy="274320"/>
          </a:xfrm>
          <a:prstGeom prst="rect">
            <a:avLst/>
          </a:prstGeom>
          <a:noFill/>
          <a:ln/>
        </p:spPr>
        <p:txBody>
          <a:bodyPr wrap="square" rtlCol="0" anchor="ctr"/>
          <a:lstStyle/>
          <a:p>
            <a:pPr algn="ctr" indent="0" marL="0">
              <a:buNone/>
            </a:pPr>
            <a:r>
              <a:rPr lang="en-US" sz="1100" i="1" dirty="0">
                <a:solidFill>
                  <a:srgbClr val="5A6B5A"/>
                </a:solidFill>
                <a:latin typeface="Calibri" pitchFamily="34" charset="0"/>
                <a:ea typeface="Calibri" pitchFamily="34" charset="-122"/>
                <a:cs typeface="Calibri" pitchFamily="34" charset="-120"/>
              </a:rPr>
              <a:t>Macheta fizică — vedere de sus</a:t>
            </a:r>
            <a:endParaRPr lang="en-US" sz="1100" dirty="0"/>
          </a:p>
        </p:txBody>
      </p:sp>
      <p:sp>
        <p:nvSpPr>
          <p:cNvPr id="27" name="Text 24"/>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28" name="Text 25"/>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04 · HARDWARE</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Siguranță și monitorizare</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Shape 3"/>
          <p:cNvSpPr/>
          <p:nvPr/>
        </p:nvSpPr>
        <p:spPr>
          <a:xfrm>
            <a:off x="548640" y="1600200"/>
            <a:ext cx="6400800" cy="960120"/>
          </a:xfrm>
          <a:prstGeom prst="roundRect">
            <a:avLst>
              <a:gd name="adj" fmla="val 7619"/>
            </a:avLst>
          </a:prstGeom>
          <a:solidFill>
            <a:srgbClr val="FFFFFF"/>
          </a:solidFill>
          <a:ln w="12700">
            <a:solidFill>
              <a:srgbClr val="DDE5D8"/>
            </a:solidFill>
            <a:prstDash val="solid"/>
          </a:ln>
        </p:spPr>
      </p:sp>
      <p:sp>
        <p:nvSpPr>
          <p:cNvPr id="6" name="Shape 4"/>
          <p:cNvSpPr/>
          <p:nvPr/>
        </p:nvSpPr>
        <p:spPr>
          <a:xfrm>
            <a:off x="731520" y="1874520"/>
            <a:ext cx="384048" cy="384048"/>
          </a:xfrm>
          <a:prstGeom prst="ellipse">
            <a:avLst/>
          </a:prstGeom>
          <a:solidFill>
            <a:srgbClr val="2C5F2D"/>
          </a:solidFill>
          <a:ln/>
        </p:spPr>
      </p:sp>
      <p:sp>
        <p:nvSpPr>
          <p:cNvPr id="7" name="Text 5"/>
          <p:cNvSpPr/>
          <p:nvPr/>
        </p:nvSpPr>
        <p:spPr>
          <a:xfrm>
            <a:off x="1325880" y="1709928"/>
            <a:ext cx="548640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Senzor de gaze MQ-2</a:t>
            </a:r>
            <a:endParaRPr lang="en-US" sz="1400" dirty="0"/>
          </a:p>
        </p:txBody>
      </p:sp>
      <p:sp>
        <p:nvSpPr>
          <p:cNvPr id="8" name="Text 6"/>
          <p:cNvSpPr/>
          <p:nvPr/>
        </p:nvSpPr>
        <p:spPr>
          <a:xfrm>
            <a:off x="1325880" y="2011680"/>
            <a:ext cx="5486400" cy="502920"/>
          </a:xfrm>
          <a:prstGeom prst="rect">
            <a:avLst/>
          </a:prstGeom>
          <a:noFill/>
          <a:ln/>
        </p:spPr>
        <p:txBody>
          <a:bodyPr wrap="square" rtlCol="0" anchor="ctr"/>
          <a:lstStyle/>
          <a:p>
            <a:pPr indent="0" marL="0">
              <a:lnSpc>
                <a:spcPct val="105000"/>
              </a:lnSpc>
              <a:buNone/>
            </a:pPr>
            <a:r>
              <a:rPr lang="en-US" sz="1100" dirty="0">
                <a:solidFill>
                  <a:srgbClr val="5A6B5A"/>
                </a:solidFill>
                <a:latin typeface="Calibri" pitchFamily="34" charset="0"/>
                <a:ea typeface="Calibri" pitchFamily="34" charset="-122"/>
                <a:cs typeface="Calibri" pitchFamily="34" charset="-120"/>
              </a:rPr>
              <a:t>Detecție gaze combustibile (metan, propan, GPL). Principiu conform familiei de standarde EN 50545-1 pentru parcări</a:t>
            </a:r>
            <a:endParaRPr lang="en-US" sz="1100" dirty="0"/>
          </a:p>
        </p:txBody>
      </p:sp>
      <p:sp>
        <p:nvSpPr>
          <p:cNvPr id="9" name="Shape 7"/>
          <p:cNvSpPr/>
          <p:nvPr/>
        </p:nvSpPr>
        <p:spPr>
          <a:xfrm>
            <a:off x="548640" y="2715768"/>
            <a:ext cx="6400800" cy="960120"/>
          </a:xfrm>
          <a:prstGeom prst="roundRect">
            <a:avLst>
              <a:gd name="adj" fmla="val 7619"/>
            </a:avLst>
          </a:prstGeom>
          <a:solidFill>
            <a:srgbClr val="FFFFFF"/>
          </a:solidFill>
          <a:ln w="12700">
            <a:solidFill>
              <a:srgbClr val="DDE5D8"/>
            </a:solidFill>
            <a:prstDash val="solid"/>
          </a:ln>
        </p:spPr>
      </p:sp>
      <p:sp>
        <p:nvSpPr>
          <p:cNvPr id="10" name="Shape 8"/>
          <p:cNvSpPr/>
          <p:nvPr/>
        </p:nvSpPr>
        <p:spPr>
          <a:xfrm>
            <a:off x="731520" y="2990088"/>
            <a:ext cx="384048" cy="384048"/>
          </a:xfrm>
          <a:prstGeom prst="ellipse">
            <a:avLst/>
          </a:prstGeom>
          <a:solidFill>
            <a:srgbClr val="2C5F2D"/>
          </a:solidFill>
          <a:ln/>
        </p:spPr>
      </p:sp>
      <p:sp>
        <p:nvSpPr>
          <p:cNvPr id="11" name="Text 9"/>
          <p:cNvSpPr/>
          <p:nvPr/>
        </p:nvSpPr>
        <p:spPr>
          <a:xfrm>
            <a:off x="1325880" y="2825496"/>
            <a:ext cx="548640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Senzor de flacără IR</a:t>
            </a:r>
            <a:endParaRPr lang="en-US" sz="1400" dirty="0"/>
          </a:p>
        </p:txBody>
      </p:sp>
      <p:sp>
        <p:nvSpPr>
          <p:cNvPr id="12" name="Text 10"/>
          <p:cNvSpPr/>
          <p:nvPr/>
        </p:nvSpPr>
        <p:spPr>
          <a:xfrm>
            <a:off x="1325880" y="3127248"/>
            <a:ext cx="5486400" cy="502920"/>
          </a:xfrm>
          <a:prstGeom prst="rect">
            <a:avLst/>
          </a:prstGeom>
          <a:noFill/>
          <a:ln/>
        </p:spPr>
        <p:txBody>
          <a:bodyPr wrap="square" rtlCol="0" anchor="ctr"/>
          <a:lstStyle/>
          <a:p>
            <a:pPr indent="0" marL="0">
              <a:lnSpc>
                <a:spcPct val="105000"/>
              </a:lnSpc>
              <a:buNone/>
            </a:pPr>
            <a:r>
              <a:rPr lang="en-US" sz="1100" dirty="0">
                <a:solidFill>
                  <a:srgbClr val="5A6B5A"/>
                </a:solidFill>
                <a:latin typeface="Calibri" pitchFamily="34" charset="0"/>
                <a:ea typeface="Calibri" pitchFamily="34" charset="-122"/>
                <a:cs typeface="Calibri" pitchFamily="34" charset="-120"/>
              </a:rPr>
              <a:t>Detecția radiației infraroșii a flăcărilor — principiu EN 54-10 (detectoare de flacără)</a:t>
            </a:r>
            <a:endParaRPr lang="en-US" sz="1100" dirty="0"/>
          </a:p>
        </p:txBody>
      </p:sp>
      <p:sp>
        <p:nvSpPr>
          <p:cNvPr id="13" name="Shape 11"/>
          <p:cNvSpPr/>
          <p:nvPr/>
        </p:nvSpPr>
        <p:spPr>
          <a:xfrm>
            <a:off x="548640" y="3831336"/>
            <a:ext cx="6400800" cy="960120"/>
          </a:xfrm>
          <a:prstGeom prst="roundRect">
            <a:avLst>
              <a:gd name="adj" fmla="val 7619"/>
            </a:avLst>
          </a:prstGeom>
          <a:solidFill>
            <a:srgbClr val="FFFFFF"/>
          </a:solidFill>
          <a:ln w="12700">
            <a:solidFill>
              <a:srgbClr val="DDE5D8"/>
            </a:solidFill>
            <a:prstDash val="solid"/>
          </a:ln>
        </p:spPr>
      </p:sp>
      <p:sp>
        <p:nvSpPr>
          <p:cNvPr id="14" name="Shape 12"/>
          <p:cNvSpPr/>
          <p:nvPr/>
        </p:nvSpPr>
        <p:spPr>
          <a:xfrm>
            <a:off x="731520" y="4105656"/>
            <a:ext cx="384048" cy="384048"/>
          </a:xfrm>
          <a:prstGeom prst="ellipse">
            <a:avLst/>
          </a:prstGeom>
          <a:solidFill>
            <a:srgbClr val="2C5F2D"/>
          </a:solidFill>
          <a:ln/>
        </p:spPr>
      </p:sp>
      <p:sp>
        <p:nvSpPr>
          <p:cNvPr id="15" name="Text 13"/>
          <p:cNvSpPr/>
          <p:nvPr/>
        </p:nvSpPr>
        <p:spPr>
          <a:xfrm>
            <a:off x="1325880" y="3941064"/>
            <a:ext cx="548640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BME280</a:t>
            </a:r>
            <a:endParaRPr lang="en-US" sz="1400" dirty="0"/>
          </a:p>
        </p:txBody>
      </p:sp>
      <p:sp>
        <p:nvSpPr>
          <p:cNvPr id="16" name="Text 14"/>
          <p:cNvSpPr/>
          <p:nvPr/>
        </p:nvSpPr>
        <p:spPr>
          <a:xfrm>
            <a:off x="1325880" y="4242816"/>
            <a:ext cx="5486400" cy="502920"/>
          </a:xfrm>
          <a:prstGeom prst="rect">
            <a:avLst/>
          </a:prstGeom>
          <a:noFill/>
          <a:ln/>
        </p:spPr>
        <p:txBody>
          <a:bodyPr wrap="square" rtlCol="0" anchor="ctr"/>
          <a:lstStyle/>
          <a:p>
            <a:pPr indent="0" marL="0">
              <a:lnSpc>
                <a:spcPct val="105000"/>
              </a:lnSpc>
              <a:buNone/>
            </a:pPr>
            <a:r>
              <a:rPr lang="en-US" sz="1100" dirty="0">
                <a:solidFill>
                  <a:srgbClr val="5A6B5A"/>
                </a:solidFill>
                <a:latin typeface="Calibri" pitchFamily="34" charset="0"/>
                <a:ea typeface="Calibri" pitchFamily="34" charset="-122"/>
                <a:cs typeface="Calibri" pitchFamily="34" charset="-120"/>
              </a:rPr>
              <a:t>Monitorizare temperatură, umiditate și presiune atmosferică</a:t>
            </a:r>
            <a:endParaRPr lang="en-US" sz="1100" dirty="0"/>
          </a:p>
        </p:txBody>
      </p:sp>
      <p:sp>
        <p:nvSpPr>
          <p:cNvPr id="17" name="Shape 15"/>
          <p:cNvSpPr/>
          <p:nvPr/>
        </p:nvSpPr>
        <p:spPr>
          <a:xfrm>
            <a:off x="548640" y="4946904"/>
            <a:ext cx="6400800" cy="960120"/>
          </a:xfrm>
          <a:prstGeom prst="roundRect">
            <a:avLst>
              <a:gd name="adj" fmla="val 7619"/>
            </a:avLst>
          </a:prstGeom>
          <a:solidFill>
            <a:srgbClr val="FFFFFF"/>
          </a:solidFill>
          <a:ln w="12700">
            <a:solidFill>
              <a:srgbClr val="DDE5D8"/>
            </a:solidFill>
            <a:prstDash val="solid"/>
          </a:ln>
        </p:spPr>
      </p:sp>
      <p:sp>
        <p:nvSpPr>
          <p:cNvPr id="18" name="Shape 16"/>
          <p:cNvSpPr/>
          <p:nvPr/>
        </p:nvSpPr>
        <p:spPr>
          <a:xfrm>
            <a:off x="731520" y="5221224"/>
            <a:ext cx="384048" cy="384048"/>
          </a:xfrm>
          <a:prstGeom prst="ellipse">
            <a:avLst/>
          </a:prstGeom>
          <a:solidFill>
            <a:srgbClr val="2C5F2D"/>
          </a:solidFill>
          <a:ln/>
        </p:spPr>
      </p:sp>
      <p:sp>
        <p:nvSpPr>
          <p:cNvPr id="19" name="Text 17"/>
          <p:cNvSpPr/>
          <p:nvPr/>
        </p:nvSpPr>
        <p:spPr>
          <a:xfrm>
            <a:off x="1325880" y="5056632"/>
            <a:ext cx="548640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Senzor de viteză IR</a:t>
            </a:r>
            <a:endParaRPr lang="en-US" sz="1400" dirty="0"/>
          </a:p>
        </p:txBody>
      </p:sp>
      <p:sp>
        <p:nvSpPr>
          <p:cNvPr id="20" name="Text 18"/>
          <p:cNvSpPr/>
          <p:nvPr/>
        </p:nvSpPr>
        <p:spPr>
          <a:xfrm>
            <a:off x="1325880" y="5358384"/>
            <a:ext cx="5486400" cy="502920"/>
          </a:xfrm>
          <a:prstGeom prst="rect">
            <a:avLst/>
          </a:prstGeom>
          <a:noFill/>
          <a:ln/>
        </p:spPr>
        <p:txBody>
          <a:bodyPr wrap="square" rtlCol="0" anchor="ctr"/>
          <a:lstStyle/>
          <a:p>
            <a:pPr indent="0" marL="0">
              <a:lnSpc>
                <a:spcPct val="105000"/>
              </a:lnSpc>
              <a:buNone/>
            </a:pPr>
            <a:r>
              <a:rPr lang="en-US" sz="1100" dirty="0">
                <a:solidFill>
                  <a:srgbClr val="5A6B5A"/>
                </a:solidFill>
                <a:latin typeface="Calibri" pitchFamily="34" charset="0"/>
                <a:ea typeface="Calibri" pitchFamily="34" charset="-122"/>
                <a:cs typeface="Calibri" pitchFamily="34" charset="-120"/>
              </a:rPr>
              <a:t>Monitorizarea vitezei de acces a vehiculelor la intrare</a:t>
            </a:r>
            <a:endParaRPr lang="en-US" sz="1100" dirty="0"/>
          </a:p>
        </p:txBody>
      </p:sp>
      <p:pic>
        <p:nvPicPr>
          <p:cNvPr id="21" name="Image 0" descr="/tmp/breadboard.jpg">    </p:cNvPr>
          <p:cNvPicPr>
            <a:picLocks noChangeAspect="1"/>
          </p:cNvPicPr>
          <p:nvPr/>
        </p:nvPicPr>
        <p:blipFill>
          <a:blip r:embed="rId1"/>
          <a:srcRect l="0" r="0" t="0" b="0"/>
          <a:stretch/>
        </p:blipFill>
        <p:spPr>
          <a:xfrm>
            <a:off x="7498080" y="1783080"/>
            <a:ext cx="4114800" cy="4206240"/>
          </a:xfrm>
          <a:prstGeom prst="ellipse">
            <a:avLst/>
          </a:prstGeom>
        </p:spPr>
      </p:pic>
      <p:sp>
        <p:nvSpPr>
          <p:cNvPr id="22" name="Text 19"/>
          <p:cNvSpPr/>
          <p:nvPr/>
        </p:nvSpPr>
        <p:spPr>
          <a:xfrm>
            <a:off x="7498080" y="6080760"/>
            <a:ext cx="4114800" cy="274320"/>
          </a:xfrm>
          <a:prstGeom prst="rect">
            <a:avLst/>
          </a:prstGeom>
          <a:noFill/>
          <a:ln/>
        </p:spPr>
        <p:txBody>
          <a:bodyPr wrap="square" rtlCol="0" anchor="ctr"/>
          <a:lstStyle/>
          <a:p>
            <a:pPr algn="ctr" indent="0" marL="0">
              <a:buNone/>
            </a:pPr>
            <a:r>
              <a:rPr lang="en-US" sz="1100" i="1" dirty="0">
                <a:solidFill>
                  <a:srgbClr val="5A6B5A"/>
                </a:solidFill>
                <a:latin typeface="Calibri" pitchFamily="34" charset="0"/>
                <a:ea typeface="Calibri" pitchFamily="34" charset="-122"/>
                <a:cs typeface="Calibri" pitchFamily="34" charset="-120"/>
              </a:rPr>
              <a:t>Cablajul senzorilor pe ESP32</a:t>
            </a:r>
            <a:endParaRPr lang="en-US" sz="1100" dirty="0"/>
          </a:p>
        </p:txBody>
      </p:sp>
      <p:sp>
        <p:nvSpPr>
          <p:cNvPr id="23" name="Text 20"/>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24" name="Text 21"/>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05 · DETECȚIE VIZUALĂ</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Procesare video cu OpenCV</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Shape 3"/>
          <p:cNvSpPr/>
          <p:nvPr/>
        </p:nvSpPr>
        <p:spPr>
          <a:xfrm>
            <a:off x="548640" y="1645920"/>
            <a:ext cx="6583680" cy="960120"/>
          </a:xfrm>
          <a:prstGeom prst="roundRect">
            <a:avLst>
              <a:gd name="adj" fmla="val 7619"/>
            </a:avLst>
          </a:prstGeom>
          <a:solidFill>
            <a:srgbClr val="FFFFFF"/>
          </a:solidFill>
          <a:ln w="12700">
            <a:solidFill>
              <a:srgbClr val="DDE5D8"/>
            </a:solidFill>
            <a:prstDash val="solid"/>
          </a:ln>
        </p:spPr>
      </p:sp>
      <p:sp>
        <p:nvSpPr>
          <p:cNvPr id="6" name="Text 4"/>
          <p:cNvSpPr/>
          <p:nvPr/>
        </p:nvSpPr>
        <p:spPr>
          <a:xfrm>
            <a:off x="731520" y="1892808"/>
            <a:ext cx="457200" cy="457200"/>
          </a:xfrm>
          <a:prstGeom prst="rect">
            <a:avLst/>
          </a:prstGeom>
          <a:noFill/>
          <a:ln/>
        </p:spPr>
        <p:txBody>
          <a:bodyPr wrap="square" rtlCol="0" anchor="ctr"/>
          <a:lstStyle/>
          <a:p>
            <a:pPr algn="ctr" indent="0" marL="0">
              <a:buNone/>
            </a:pPr>
            <a:r>
              <a:rPr lang="en-US" sz="2000" b="1" dirty="0">
                <a:solidFill>
                  <a:srgbClr val="5B8C3E"/>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371600" y="1764792"/>
            <a:ext cx="55778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Achiziție</a:t>
            </a:r>
            <a:endParaRPr lang="en-US" sz="1400" dirty="0"/>
          </a:p>
        </p:txBody>
      </p:sp>
      <p:sp>
        <p:nvSpPr>
          <p:cNvPr id="8" name="Text 6"/>
          <p:cNvSpPr/>
          <p:nvPr/>
        </p:nvSpPr>
        <p:spPr>
          <a:xfrm>
            <a:off x="1371600" y="2075688"/>
            <a:ext cx="5577840" cy="45720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Modul ESP32-CAM cu senzor OV2640, streaming MJPEG în timp real</a:t>
            </a:r>
            <a:endParaRPr lang="en-US" sz="1150" dirty="0"/>
          </a:p>
        </p:txBody>
      </p:sp>
      <p:sp>
        <p:nvSpPr>
          <p:cNvPr id="9" name="Shape 7"/>
          <p:cNvSpPr/>
          <p:nvPr/>
        </p:nvSpPr>
        <p:spPr>
          <a:xfrm>
            <a:off x="548640" y="2761488"/>
            <a:ext cx="6583680" cy="960120"/>
          </a:xfrm>
          <a:prstGeom prst="roundRect">
            <a:avLst>
              <a:gd name="adj" fmla="val 7619"/>
            </a:avLst>
          </a:prstGeom>
          <a:solidFill>
            <a:srgbClr val="FFFFFF"/>
          </a:solidFill>
          <a:ln w="12700">
            <a:solidFill>
              <a:srgbClr val="DDE5D8"/>
            </a:solidFill>
            <a:prstDash val="solid"/>
          </a:ln>
        </p:spPr>
      </p:sp>
      <p:sp>
        <p:nvSpPr>
          <p:cNvPr id="10" name="Text 8"/>
          <p:cNvSpPr/>
          <p:nvPr/>
        </p:nvSpPr>
        <p:spPr>
          <a:xfrm>
            <a:off x="731520" y="3008376"/>
            <a:ext cx="457200" cy="457200"/>
          </a:xfrm>
          <a:prstGeom prst="rect">
            <a:avLst/>
          </a:prstGeom>
          <a:noFill/>
          <a:ln/>
        </p:spPr>
        <p:txBody>
          <a:bodyPr wrap="square" rtlCol="0" anchor="ctr"/>
          <a:lstStyle/>
          <a:p>
            <a:pPr algn="ctr" indent="0" marL="0">
              <a:buNone/>
            </a:pPr>
            <a:r>
              <a:rPr lang="en-US" sz="2000" b="1" dirty="0">
                <a:solidFill>
                  <a:srgbClr val="5B8C3E"/>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371600" y="2880360"/>
            <a:ext cx="55778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Regiuni de interes</a:t>
            </a:r>
            <a:endParaRPr lang="en-US" sz="1400" dirty="0"/>
          </a:p>
        </p:txBody>
      </p:sp>
      <p:sp>
        <p:nvSpPr>
          <p:cNvPr id="12" name="Text 10"/>
          <p:cNvSpPr/>
          <p:nvPr/>
        </p:nvSpPr>
        <p:spPr>
          <a:xfrm>
            <a:off x="1371600" y="3191256"/>
            <a:ext cx="5577840" cy="45720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Coordonate ROI definite pentru fiecare loc (A1–B5)</a:t>
            </a:r>
            <a:endParaRPr lang="en-US" sz="1150" dirty="0"/>
          </a:p>
        </p:txBody>
      </p:sp>
      <p:sp>
        <p:nvSpPr>
          <p:cNvPr id="13" name="Shape 11"/>
          <p:cNvSpPr/>
          <p:nvPr/>
        </p:nvSpPr>
        <p:spPr>
          <a:xfrm>
            <a:off x="548640" y="3877056"/>
            <a:ext cx="6583680" cy="960120"/>
          </a:xfrm>
          <a:prstGeom prst="roundRect">
            <a:avLst>
              <a:gd name="adj" fmla="val 7619"/>
            </a:avLst>
          </a:prstGeom>
          <a:solidFill>
            <a:srgbClr val="FFFFFF"/>
          </a:solidFill>
          <a:ln w="12700">
            <a:solidFill>
              <a:srgbClr val="DDE5D8"/>
            </a:solidFill>
            <a:prstDash val="solid"/>
          </a:ln>
        </p:spPr>
      </p:sp>
      <p:sp>
        <p:nvSpPr>
          <p:cNvPr id="14" name="Text 12"/>
          <p:cNvSpPr/>
          <p:nvPr/>
        </p:nvSpPr>
        <p:spPr>
          <a:xfrm>
            <a:off x="731520" y="4123944"/>
            <a:ext cx="457200" cy="457200"/>
          </a:xfrm>
          <a:prstGeom prst="rect">
            <a:avLst/>
          </a:prstGeom>
          <a:noFill/>
          <a:ln/>
        </p:spPr>
        <p:txBody>
          <a:bodyPr wrap="square" rtlCol="0" anchor="ctr"/>
          <a:lstStyle/>
          <a:p>
            <a:pPr algn="ctr" indent="0" marL="0">
              <a:buNone/>
            </a:pPr>
            <a:r>
              <a:rPr lang="en-US" sz="2000" b="1" dirty="0">
                <a:solidFill>
                  <a:srgbClr val="5B8C3E"/>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1371600" y="3995928"/>
            <a:ext cx="55778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Algoritm</a:t>
            </a:r>
            <a:endParaRPr lang="en-US" sz="1400" dirty="0"/>
          </a:p>
        </p:txBody>
      </p:sp>
      <p:sp>
        <p:nvSpPr>
          <p:cNvPr id="16" name="Text 14"/>
          <p:cNvSpPr/>
          <p:nvPr/>
        </p:nvSpPr>
        <p:spPr>
          <a:xfrm>
            <a:off x="1371600" y="4306824"/>
            <a:ext cx="5577840" cy="45720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Analiză de prag și numărarea pixelilor pentru detecția prezenței</a:t>
            </a:r>
            <a:endParaRPr lang="en-US" sz="1150" dirty="0"/>
          </a:p>
        </p:txBody>
      </p:sp>
      <p:sp>
        <p:nvSpPr>
          <p:cNvPr id="17" name="Shape 15"/>
          <p:cNvSpPr/>
          <p:nvPr/>
        </p:nvSpPr>
        <p:spPr>
          <a:xfrm>
            <a:off x="548640" y="4992624"/>
            <a:ext cx="6583680" cy="960120"/>
          </a:xfrm>
          <a:prstGeom prst="roundRect">
            <a:avLst>
              <a:gd name="adj" fmla="val 7619"/>
            </a:avLst>
          </a:prstGeom>
          <a:solidFill>
            <a:srgbClr val="FFFFFF"/>
          </a:solidFill>
          <a:ln w="12700">
            <a:solidFill>
              <a:srgbClr val="DDE5D8"/>
            </a:solidFill>
            <a:prstDash val="solid"/>
          </a:ln>
        </p:spPr>
      </p:sp>
      <p:sp>
        <p:nvSpPr>
          <p:cNvPr id="18" name="Text 16"/>
          <p:cNvSpPr/>
          <p:nvPr/>
        </p:nvSpPr>
        <p:spPr>
          <a:xfrm>
            <a:off x="731520" y="5239512"/>
            <a:ext cx="457200" cy="457200"/>
          </a:xfrm>
          <a:prstGeom prst="rect">
            <a:avLst/>
          </a:prstGeom>
          <a:noFill/>
          <a:ln/>
        </p:spPr>
        <p:txBody>
          <a:bodyPr wrap="square" rtlCol="0" anchor="ctr"/>
          <a:lstStyle/>
          <a:p>
            <a:pPr algn="ctr" indent="0" marL="0">
              <a:buNone/>
            </a:pPr>
            <a:r>
              <a:rPr lang="en-US" sz="2000" b="1" dirty="0">
                <a:solidFill>
                  <a:srgbClr val="5B8C3E"/>
                </a:solidFill>
                <a:latin typeface="Calibri" pitchFamily="34" charset="0"/>
                <a:ea typeface="Calibri" pitchFamily="34" charset="-122"/>
                <a:cs typeface="Calibri" pitchFamily="34" charset="-120"/>
              </a:rPr>
              <a:t>4</a:t>
            </a:r>
            <a:endParaRPr lang="en-US" sz="2000" dirty="0"/>
          </a:p>
        </p:txBody>
      </p:sp>
      <p:sp>
        <p:nvSpPr>
          <p:cNvPr id="19" name="Text 17"/>
          <p:cNvSpPr/>
          <p:nvPr/>
        </p:nvSpPr>
        <p:spPr>
          <a:xfrm>
            <a:off x="1371600" y="5111496"/>
            <a:ext cx="5577840" cy="32004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Sincronizare</a:t>
            </a:r>
            <a:endParaRPr lang="en-US" sz="1400" dirty="0"/>
          </a:p>
        </p:txBody>
      </p:sp>
      <p:sp>
        <p:nvSpPr>
          <p:cNvPr id="20" name="Text 18"/>
          <p:cNvSpPr/>
          <p:nvPr/>
        </p:nvSpPr>
        <p:spPr>
          <a:xfrm>
            <a:off x="1371600" y="5422392"/>
            <a:ext cx="5577840" cy="457200"/>
          </a:xfrm>
          <a:prstGeom prst="rect">
            <a:avLst/>
          </a:prstGeom>
          <a:noFill/>
          <a:ln/>
        </p:spPr>
        <p:txBody>
          <a:bodyPr wrap="square" rtlCol="0" anchor="ctr"/>
          <a:lstStyle/>
          <a:p>
            <a:pPr indent="0" marL="0">
              <a:buNone/>
            </a:pPr>
            <a:r>
              <a:rPr lang="en-US" sz="1150" dirty="0">
                <a:solidFill>
                  <a:srgbClr val="5A6B5A"/>
                </a:solidFill>
                <a:latin typeface="Calibri" pitchFamily="34" charset="0"/>
                <a:ea typeface="Calibri" pitchFamily="34" charset="-122"/>
                <a:cs typeface="Calibri" pitchFamily="34" charset="-120"/>
              </a:rPr>
              <a:t>Validare cu senzorii IR și actualizarea bazei de date prin MQTT</a:t>
            </a:r>
            <a:endParaRPr lang="en-US" sz="1150" dirty="0"/>
          </a:p>
        </p:txBody>
      </p:sp>
      <p:pic>
        <p:nvPicPr>
          <p:cNvPr id="21" name="Image 0" descr="/tmp/espcam.jpg">    </p:cNvPr>
          <p:cNvPicPr>
            <a:picLocks noChangeAspect="1"/>
          </p:cNvPicPr>
          <p:nvPr/>
        </p:nvPicPr>
        <p:blipFill>
          <a:blip r:embed="rId1"/>
          <a:srcRect l="0" r="0" t="0" b="0"/>
          <a:stretch/>
        </p:blipFill>
        <p:spPr>
          <a:xfrm>
            <a:off x="7498080" y="1645920"/>
            <a:ext cx="4114800" cy="4572000"/>
          </a:xfrm>
          <a:prstGeom prst="ellipse">
            <a:avLst/>
          </a:prstGeom>
        </p:spPr>
      </p:pic>
      <p:sp>
        <p:nvSpPr>
          <p:cNvPr id="22" name="Text 19"/>
          <p:cNvSpPr/>
          <p:nvPr/>
        </p:nvSpPr>
        <p:spPr>
          <a:xfrm>
            <a:off x="7498080" y="6217920"/>
            <a:ext cx="4114800" cy="274320"/>
          </a:xfrm>
          <a:prstGeom prst="rect">
            <a:avLst/>
          </a:prstGeom>
          <a:noFill/>
          <a:ln/>
        </p:spPr>
        <p:txBody>
          <a:bodyPr wrap="square" rtlCol="0" anchor="ctr"/>
          <a:lstStyle/>
          <a:p>
            <a:pPr algn="ctr" indent="0" marL="0">
              <a:buNone/>
            </a:pPr>
            <a:r>
              <a:rPr lang="en-US" sz="1100" i="1" dirty="0">
                <a:solidFill>
                  <a:srgbClr val="5A6B5A"/>
                </a:solidFill>
                <a:latin typeface="Calibri" pitchFamily="34" charset="0"/>
                <a:ea typeface="Calibri" pitchFamily="34" charset="-122"/>
                <a:cs typeface="Calibri" pitchFamily="34" charset="-120"/>
              </a:rPr>
              <a:t>Modulul ESP32-CAM</a:t>
            </a:r>
            <a:endParaRPr lang="en-US" sz="1100" dirty="0"/>
          </a:p>
        </p:txBody>
      </p:sp>
      <p:sp>
        <p:nvSpPr>
          <p:cNvPr id="23" name="Text 20"/>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24" name="Text 21"/>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06 · DEMONSTRAȚIE</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Sistemul în funcțiune</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Shape 3"/>
          <p:cNvSpPr/>
          <p:nvPr/>
        </p:nvSpPr>
        <p:spPr>
          <a:xfrm>
            <a:off x="2286000" y="1737360"/>
            <a:ext cx="7589520" cy="4114800"/>
          </a:xfrm>
          <a:prstGeom prst="roundRect">
            <a:avLst>
              <a:gd name="adj" fmla="val 2222"/>
            </a:avLst>
          </a:prstGeom>
          <a:solidFill>
            <a:srgbClr val="1A2E1A"/>
          </a:solidFill>
          <a:ln w="25400">
            <a:solidFill>
              <a:srgbClr val="5B8C3E"/>
            </a:solidFill>
            <a:prstDash val="solid"/>
          </a:ln>
        </p:spPr>
      </p:sp>
      <p:sp>
        <p:nvSpPr>
          <p:cNvPr id="6" name="Shape 4"/>
          <p:cNvSpPr/>
          <p:nvPr/>
        </p:nvSpPr>
        <p:spPr>
          <a:xfrm>
            <a:off x="5532120" y="3246120"/>
            <a:ext cx="1097280" cy="1097280"/>
          </a:xfrm>
          <a:prstGeom prst="ellipse">
            <a:avLst/>
          </a:prstGeom>
          <a:solidFill>
            <a:srgbClr val="5B8C3E"/>
          </a:solidFill>
          <a:ln/>
        </p:spPr>
      </p:sp>
      <p:sp>
        <p:nvSpPr>
          <p:cNvPr id="7" name="Shape 5"/>
          <p:cNvSpPr/>
          <p:nvPr/>
        </p:nvSpPr>
        <p:spPr>
          <a:xfrm rot="5400000">
            <a:off x="5870448" y="3520440"/>
            <a:ext cx="502920" cy="548640"/>
          </a:xfrm>
          <a:prstGeom prst="triangle">
            <a:avLst/>
          </a:prstGeom>
          <a:solidFill>
            <a:srgbClr val="FFFFFF"/>
          </a:solidFill>
          <a:ln/>
        </p:spPr>
      </p:sp>
      <p:sp>
        <p:nvSpPr>
          <p:cNvPr id="8" name="Text 6"/>
          <p:cNvSpPr/>
          <p:nvPr/>
        </p:nvSpPr>
        <p:spPr>
          <a:xfrm>
            <a:off x="2286000" y="5029200"/>
            <a:ext cx="7589520" cy="457200"/>
          </a:xfrm>
          <a:prstGeom prst="rect">
            <a:avLst/>
          </a:prstGeom>
          <a:noFill/>
          <a:ln/>
        </p:spPr>
        <p:txBody>
          <a:bodyPr wrap="square" rtlCol="0" anchor="ctr"/>
          <a:lstStyle/>
          <a:p>
            <a:pPr algn="ctr" indent="0" marL="0">
              <a:buNone/>
            </a:pPr>
            <a:r>
              <a:rPr lang="en-US" sz="1600" i="1" dirty="0">
                <a:solidFill>
                  <a:srgbClr val="CADCBC"/>
                </a:solidFill>
                <a:latin typeface="Calibri" pitchFamily="34" charset="0"/>
                <a:ea typeface="Calibri" pitchFamily="34" charset="-122"/>
                <a:cs typeface="Calibri" pitchFamily="34" charset="-120"/>
              </a:rPr>
              <a:t>Video demo — macheta în funcțiune</a:t>
            </a:r>
            <a:endParaRPr lang="en-US" sz="1600" dirty="0"/>
          </a:p>
        </p:txBody>
      </p:sp>
      <p:sp>
        <p:nvSpPr>
          <p:cNvPr id="9" name="Text 7"/>
          <p:cNvSpPr/>
          <p:nvPr/>
        </p:nvSpPr>
        <p:spPr>
          <a:xfrm>
            <a:off x="2286000" y="6126480"/>
            <a:ext cx="7589520" cy="320040"/>
          </a:xfrm>
          <a:prstGeom prst="rect">
            <a:avLst/>
          </a:prstGeom>
          <a:noFill/>
          <a:ln/>
        </p:spPr>
        <p:txBody>
          <a:bodyPr wrap="square" rtlCol="0" anchor="ctr"/>
          <a:lstStyle/>
          <a:p>
            <a:pPr algn="ctr" indent="0" marL="0">
              <a:buNone/>
            </a:pPr>
            <a:r>
              <a:rPr lang="en-US" sz="1100" dirty="0">
                <a:solidFill>
                  <a:srgbClr val="5A6B5A"/>
                </a:solidFill>
                <a:latin typeface="Calibri" pitchFamily="34" charset="0"/>
                <a:ea typeface="Calibri" pitchFamily="34" charset="-122"/>
                <a:cs typeface="Calibri" pitchFamily="34" charset="-120"/>
              </a:rPr>
              <a:t>[ Inserează aici fișierul video: Inserare → Video → Acest dispozitiv ]</a:t>
            </a:r>
            <a:endParaRPr lang="en-US" sz="1100" dirty="0"/>
          </a:p>
        </p:txBody>
      </p:sp>
      <p:sp>
        <p:nvSpPr>
          <p:cNvPr id="10" name="Text 8"/>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11" name="Text 9"/>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07 · VALIDARE</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Testarea sistemului</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Text 3"/>
          <p:cNvSpPr/>
          <p:nvPr/>
        </p:nvSpPr>
        <p:spPr>
          <a:xfrm>
            <a:off x="548640" y="1600200"/>
            <a:ext cx="10972800" cy="548640"/>
          </a:xfrm>
          <a:prstGeom prst="rect">
            <a:avLst/>
          </a:prstGeom>
          <a:noFill/>
          <a:ln/>
        </p:spPr>
        <p:txBody>
          <a:bodyPr wrap="square" rtlCol="0" anchor="ctr"/>
          <a:lstStyle/>
          <a:p>
            <a:pPr indent="0" marL="0">
              <a:buNone/>
            </a:pPr>
            <a:r>
              <a:rPr lang="en-US" sz="1600" dirty="0">
                <a:solidFill>
                  <a:srgbClr val="1A2E1A"/>
                </a:solidFill>
                <a:latin typeface="Calibri" pitchFamily="34" charset="0"/>
                <a:ea typeface="Calibri" pitchFamily="34" charset="-122"/>
                <a:cs typeface="Calibri" pitchFamily="34" charset="-120"/>
              </a:rPr>
              <a:t>Sistemul a fost validat experimental pe macheta fizică, măsurând performanța fluxului complet de acces.</a:t>
            </a:r>
            <a:endParaRPr lang="en-US" sz="1600" dirty="0"/>
          </a:p>
        </p:txBody>
      </p:sp>
      <p:sp>
        <p:nvSpPr>
          <p:cNvPr id="6" name="Shape 4"/>
          <p:cNvSpPr/>
          <p:nvPr/>
        </p:nvSpPr>
        <p:spPr>
          <a:xfrm>
            <a:off x="640080" y="2468880"/>
            <a:ext cx="5394960" cy="1554480"/>
          </a:xfrm>
          <a:prstGeom prst="roundRect">
            <a:avLst>
              <a:gd name="adj" fmla="val 7059"/>
            </a:avLst>
          </a:prstGeom>
          <a:solidFill>
            <a:srgbClr val="5B8C3E"/>
          </a:solidFill>
          <a:ln/>
        </p:spPr>
      </p:sp>
      <p:sp>
        <p:nvSpPr>
          <p:cNvPr id="7" name="Text 5"/>
          <p:cNvSpPr/>
          <p:nvPr/>
        </p:nvSpPr>
        <p:spPr>
          <a:xfrm>
            <a:off x="914400" y="2697480"/>
            <a:ext cx="4846320" cy="82296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&lt; 400 ms</a:t>
            </a:r>
            <a:endParaRPr lang="en-US" sz="4400" dirty="0"/>
          </a:p>
        </p:txBody>
      </p:sp>
      <p:sp>
        <p:nvSpPr>
          <p:cNvPr id="8" name="Text 6"/>
          <p:cNvSpPr/>
          <p:nvPr/>
        </p:nvSpPr>
        <p:spPr>
          <a:xfrm>
            <a:off x="960120" y="3520440"/>
            <a:ext cx="4846320" cy="365760"/>
          </a:xfrm>
          <a:prstGeom prst="rect">
            <a:avLst/>
          </a:prstGeom>
          <a:noFill/>
          <a:ln/>
        </p:spPr>
        <p:txBody>
          <a:bodyPr wrap="square" rtlCol="0" anchor="ctr"/>
          <a:lstStyle/>
          <a:p>
            <a:pPr indent="0" marL="0">
              <a:buNone/>
            </a:pPr>
            <a:r>
              <a:rPr lang="en-US" sz="1500" dirty="0">
                <a:solidFill>
                  <a:srgbClr val="EAF2E4"/>
                </a:solidFill>
                <a:latin typeface="Calibri" pitchFamily="34" charset="0"/>
                <a:ea typeface="Calibri" pitchFamily="34" charset="-122"/>
                <a:cs typeface="Calibri" pitchFamily="34" charset="-120"/>
              </a:rPr>
              <a:t>Citire cod QR la barieră</a:t>
            </a:r>
            <a:endParaRPr lang="en-US" sz="1500" dirty="0"/>
          </a:p>
        </p:txBody>
      </p:sp>
      <p:sp>
        <p:nvSpPr>
          <p:cNvPr id="9" name="Shape 7"/>
          <p:cNvSpPr/>
          <p:nvPr/>
        </p:nvSpPr>
        <p:spPr>
          <a:xfrm>
            <a:off x="6309360" y="2468880"/>
            <a:ext cx="5394960" cy="1554480"/>
          </a:xfrm>
          <a:prstGeom prst="roundRect">
            <a:avLst>
              <a:gd name="adj" fmla="val 7059"/>
            </a:avLst>
          </a:prstGeom>
          <a:solidFill>
            <a:srgbClr val="2C5F2D"/>
          </a:solidFill>
          <a:ln/>
        </p:spPr>
      </p:sp>
      <p:sp>
        <p:nvSpPr>
          <p:cNvPr id="10" name="Text 8"/>
          <p:cNvSpPr/>
          <p:nvPr/>
        </p:nvSpPr>
        <p:spPr>
          <a:xfrm>
            <a:off x="6583680" y="2697480"/>
            <a:ext cx="4846320" cy="82296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~1.2 s</a:t>
            </a:r>
            <a:endParaRPr lang="en-US" sz="4400" dirty="0"/>
          </a:p>
        </p:txBody>
      </p:sp>
      <p:sp>
        <p:nvSpPr>
          <p:cNvPr id="11" name="Text 9"/>
          <p:cNvSpPr/>
          <p:nvPr/>
        </p:nvSpPr>
        <p:spPr>
          <a:xfrm>
            <a:off x="6629400" y="3520440"/>
            <a:ext cx="4846320" cy="365760"/>
          </a:xfrm>
          <a:prstGeom prst="rect">
            <a:avLst/>
          </a:prstGeom>
          <a:noFill/>
          <a:ln/>
        </p:spPr>
        <p:txBody>
          <a:bodyPr wrap="square" rtlCol="0" anchor="ctr"/>
          <a:lstStyle/>
          <a:p>
            <a:pPr indent="0" marL="0">
              <a:buNone/>
            </a:pPr>
            <a:r>
              <a:rPr lang="en-US" sz="1500" dirty="0">
                <a:solidFill>
                  <a:srgbClr val="EAF2E4"/>
                </a:solidFill>
                <a:latin typeface="Calibri" pitchFamily="34" charset="0"/>
                <a:ea typeface="Calibri" pitchFamily="34" charset="-122"/>
                <a:cs typeface="Calibri" pitchFamily="34" charset="-120"/>
              </a:rPr>
              <a:t>Latență totală flux acces</a:t>
            </a:r>
            <a:endParaRPr lang="en-US" sz="1500" dirty="0"/>
          </a:p>
        </p:txBody>
      </p:sp>
      <p:sp>
        <p:nvSpPr>
          <p:cNvPr id="12" name="Shape 10"/>
          <p:cNvSpPr/>
          <p:nvPr/>
        </p:nvSpPr>
        <p:spPr>
          <a:xfrm>
            <a:off x="640080" y="4297680"/>
            <a:ext cx="5394960" cy="1554480"/>
          </a:xfrm>
          <a:prstGeom prst="roundRect">
            <a:avLst>
              <a:gd name="adj" fmla="val 7059"/>
            </a:avLst>
          </a:prstGeom>
          <a:solidFill>
            <a:srgbClr val="5B8C3E"/>
          </a:solidFill>
          <a:ln/>
        </p:spPr>
      </p:sp>
      <p:sp>
        <p:nvSpPr>
          <p:cNvPr id="13" name="Text 11"/>
          <p:cNvSpPr/>
          <p:nvPr/>
        </p:nvSpPr>
        <p:spPr>
          <a:xfrm>
            <a:off x="914400" y="4526280"/>
            <a:ext cx="4846320" cy="82296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99.8%</a:t>
            </a:r>
            <a:endParaRPr lang="en-US" sz="4400" dirty="0"/>
          </a:p>
        </p:txBody>
      </p:sp>
      <p:sp>
        <p:nvSpPr>
          <p:cNvPr id="14" name="Text 12"/>
          <p:cNvSpPr/>
          <p:nvPr/>
        </p:nvSpPr>
        <p:spPr>
          <a:xfrm>
            <a:off x="960120" y="5349240"/>
            <a:ext cx="4846320" cy="365760"/>
          </a:xfrm>
          <a:prstGeom prst="rect">
            <a:avLst/>
          </a:prstGeom>
          <a:noFill/>
          <a:ln/>
        </p:spPr>
        <p:txBody>
          <a:bodyPr wrap="square" rtlCol="0" anchor="ctr"/>
          <a:lstStyle/>
          <a:p>
            <a:pPr indent="0" marL="0">
              <a:buNone/>
            </a:pPr>
            <a:r>
              <a:rPr lang="en-US" sz="1500" dirty="0">
                <a:solidFill>
                  <a:srgbClr val="EAF2E4"/>
                </a:solidFill>
                <a:latin typeface="Calibri" pitchFamily="34" charset="0"/>
                <a:ea typeface="Calibri" pitchFamily="34" charset="-122"/>
                <a:cs typeface="Calibri" pitchFamily="34" charset="-120"/>
              </a:rPr>
              <a:t>Acuratețe detecție loc</a:t>
            </a:r>
            <a:endParaRPr lang="en-US" sz="1500" dirty="0"/>
          </a:p>
        </p:txBody>
      </p:sp>
      <p:sp>
        <p:nvSpPr>
          <p:cNvPr id="15" name="Shape 13"/>
          <p:cNvSpPr/>
          <p:nvPr/>
        </p:nvSpPr>
        <p:spPr>
          <a:xfrm>
            <a:off x="6309360" y="4297680"/>
            <a:ext cx="5394960" cy="1554480"/>
          </a:xfrm>
          <a:prstGeom prst="roundRect">
            <a:avLst>
              <a:gd name="adj" fmla="val 7059"/>
            </a:avLst>
          </a:prstGeom>
          <a:solidFill>
            <a:srgbClr val="2C5F2D"/>
          </a:solidFill>
          <a:ln/>
        </p:spPr>
      </p:sp>
      <p:sp>
        <p:nvSpPr>
          <p:cNvPr id="16" name="Text 14"/>
          <p:cNvSpPr/>
          <p:nvPr/>
        </p:nvSpPr>
        <p:spPr>
          <a:xfrm>
            <a:off x="6583680" y="4526280"/>
            <a:ext cx="4846320" cy="82296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24/7</a:t>
            </a:r>
            <a:endParaRPr lang="en-US" sz="4400" dirty="0"/>
          </a:p>
        </p:txBody>
      </p:sp>
      <p:sp>
        <p:nvSpPr>
          <p:cNvPr id="17" name="Text 15"/>
          <p:cNvSpPr/>
          <p:nvPr/>
        </p:nvSpPr>
        <p:spPr>
          <a:xfrm>
            <a:off x="6629400" y="5349240"/>
            <a:ext cx="4846320" cy="365760"/>
          </a:xfrm>
          <a:prstGeom prst="rect">
            <a:avLst/>
          </a:prstGeom>
          <a:noFill/>
          <a:ln/>
        </p:spPr>
        <p:txBody>
          <a:bodyPr wrap="square" rtlCol="0" anchor="ctr"/>
          <a:lstStyle/>
          <a:p>
            <a:pPr indent="0" marL="0">
              <a:buNone/>
            </a:pPr>
            <a:r>
              <a:rPr lang="en-US" sz="1500" dirty="0">
                <a:solidFill>
                  <a:srgbClr val="EAF2E4"/>
                </a:solidFill>
                <a:latin typeface="Calibri" pitchFamily="34" charset="0"/>
                <a:ea typeface="Calibri" pitchFamily="34" charset="-122"/>
                <a:cs typeface="Calibri" pitchFamily="34" charset="-120"/>
              </a:rPr>
              <a:t>Funcționare continuă demo</a:t>
            </a:r>
            <a:endParaRPr lang="en-US" sz="1500" dirty="0"/>
          </a:p>
        </p:txBody>
      </p:sp>
      <p:sp>
        <p:nvSpPr>
          <p:cNvPr id="18" name="Text 16"/>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19" name="Text 17"/>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08 · PERSPECTIVE</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Direcții viitoare de dezvoltare</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Shape 3"/>
          <p:cNvSpPr/>
          <p:nvPr/>
        </p:nvSpPr>
        <p:spPr>
          <a:xfrm>
            <a:off x="548640" y="1645920"/>
            <a:ext cx="11064240" cy="1005840"/>
          </a:xfrm>
          <a:prstGeom prst="roundRect">
            <a:avLst>
              <a:gd name="adj" fmla="val 7273"/>
            </a:avLst>
          </a:prstGeom>
          <a:solidFill>
            <a:srgbClr val="FFFFFF"/>
          </a:solidFill>
          <a:ln w="12700">
            <a:solidFill>
              <a:srgbClr val="DDE5D8"/>
            </a:solidFill>
            <a:prstDash val="solid"/>
          </a:ln>
        </p:spPr>
      </p:sp>
      <p:sp>
        <p:nvSpPr>
          <p:cNvPr id="6" name="Shape 4"/>
          <p:cNvSpPr/>
          <p:nvPr/>
        </p:nvSpPr>
        <p:spPr>
          <a:xfrm>
            <a:off x="777240" y="1938528"/>
            <a:ext cx="420624" cy="420624"/>
          </a:xfrm>
          <a:prstGeom prst="ellipse">
            <a:avLst/>
          </a:prstGeom>
          <a:solidFill>
            <a:srgbClr val="5B8C3E"/>
          </a:solidFill>
          <a:ln/>
        </p:spPr>
      </p:sp>
      <p:sp>
        <p:nvSpPr>
          <p:cNvPr id="7" name="Text 5"/>
          <p:cNvSpPr/>
          <p:nvPr/>
        </p:nvSpPr>
        <p:spPr>
          <a:xfrm>
            <a:off x="777240" y="1938528"/>
            <a:ext cx="420624" cy="42062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1783080"/>
            <a:ext cx="996696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Navigare GIS indoor</a:t>
            </a:r>
            <a:endParaRPr lang="en-US" sz="1500" dirty="0"/>
          </a:p>
        </p:txBody>
      </p:sp>
      <p:sp>
        <p:nvSpPr>
          <p:cNvPr id="9" name="Text 7"/>
          <p:cNvSpPr/>
          <p:nvPr/>
        </p:nvSpPr>
        <p:spPr>
          <a:xfrm>
            <a:off x="1417320" y="2121408"/>
            <a:ext cx="996696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Corelarea hărții de parcare cu planul digital al centrului comercial — ghidare pas-cu-pas până la loc, pe modelul Waze Indoor</a:t>
            </a:r>
            <a:endParaRPr lang="en-US" sz="1200" dirty="0"/>
          </a:p>
        </p:txBody>
      </p:sp>
      <p:sp>
        <p:nvSpPr>
          <p:cNvPr id="10" name="Shape 8"/>
          <p:cNvSpPr/>
          <p:nvPr/>
        </p:nvSpPr>
        <p:spPr>
          <a:xfrm>
            <a:off x="548640" y="2816352"/>
            <a:ext cx="11064240" cy="1005840"/>
          </a:xfrm>
          <a:prstGeom prst="roundRect">
            <a:avLst>
              <a:gd name="adj" fmla="val 7273"/>
            </a:avLst>
          </a:prstGeom>
          <a:solidFill>
            <a:srgbClr val="FFFFFF"/>
          </a:solidFill>
          <a:ln w="12700">
            <a:solidFill>
              <a:srgbClr val="DDE5D8"/>
            </a:solidFill>
            <a:prstDash val="solid"/>
          </a:ln>
        </p:spPr>
      </p:sp>
      <p:sp>
        <p:nvSpPr>
          <p:cNvPr id="11" name="Shape 9"/>
          <p:cNvSpPr/>
          <p:nvPr/>
        </p:nvSpPr>
        <p:spPr>
          <a:xfrm>
            <a:off x="777240" y="3108960"/>
            <a:ext cx="420624" cy="420624"/>
          </a:xfrm>
          <a:prstGeom prst="ellipse">
            <a:avLst/>
          </a:prstGeom>
          <a:solidFill>
            <a:srgbClr val="5B8C3E"/>
          </a:solidFill>
          <a:ln/>
        </p:spPr>
      </p:sp>
      <p:sp>
        <p:nvSpPr>
          <p:cNvPr id="12" name="Text 10"/>
          <p:cNvSpPr/>
          <p:nvPr/>
        </p:nvSpPr>
        <p:spPr>
          <a:xfrm>
            <a:off x="777240" y="3108960"/>
            <a:ext cx="420624" cy="42062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2953512"/>
            <a:ext cx="996696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Detecție AI (YOLOv8)</a:t>
            </a:r>
            <a:endParaRPr lang="en-US" sz="1500" dirty="0"/>
          </a:p>
        </p:txBody>
      </p:sp>
      <p:sp>
        <p:nvSpPr>
          <p:cNvPr id="14" name="Text 12"/>
          <p:cNvSpPr/>
          <p:nvPr/>
        </p:nvSpPr>
        <p:spPr>
          <a:xfrm>
            <a:off x="1417320" y="3291840"/>
            <a:ext cx="996696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Înlocuirea algoritmului OpenCV cu un model antrenat pentru robustețe în condiții variabile</a:t>
            </a:r>
            <a:endParaRPr lang="en-US" sz="1200" dirty="0"/>
          </a:p>
        </p:txBody>
      </p:sp>
      <p:sp>
        <p:nvSpPr>
          <p:cNvPr id="15" name="Shape 13"/>
          <p:cNvSpPr/>
          <p:nvPr/>
        </p:nvSpPr>
        <p:spPr>
          <a:xfrm>
            <a:off x="548640" y="3986784"/>
            <a:ext cx="11064240" cy="1005840"/>
          </a:xfrm>
          <a:prstGeom prst="roundRect">
            <a:avLst>
              <a:gd name="adj" fmla="val 7273"/>
            </a:avLst>
          </a:prstGeom>
          <a:solidFill>
            <a:srgbClr val="FFFFFF"/>
          </a:solidFill>
          <a:ln w="12700">
            <a:solidFill>
              <a:srgbClr val="DDE5D8"/>
            </a:solidFill>
            <a:prstDash val="solid"/>
          </a:ln>
        </p:spPr>
      </p:sp>
      <p:sp>
        <p:nvSpPr>
          <p:cNvPr id="16" name="Shape 14"/>
          <p:cNvSpPr/>
          <p:nvPr/>
        </p:nvSpPr>
        <p:spPr>
          <a:xfrm>
            <a:off x="777240" y="4279392"/>
            <a:ext cx="420624" cy="420624"/>
          </a:xfrm>
          <a:prstGeom prst="ellipse">
            <a:avLst/>
          </a:prstGeom>
          <a:solidFill>
            <a:srgbClr val="5B8C3E"/>
          </a:solidFill>
          <a:ln/>
        </p:spPr>
      </p:sp>
      <p:sp>
        <p:nvSpPr>
          <p:cNvPr id="17" name="Text 15"/>
          <p:cNvSpPr/>
          <p:nvPr/>
        </p:nvSpPr>
        <p:spPr>
          <a:xfrm>
            <a:off x="777240" y="4279392"/>
            <a:ext cx="420624" cy="42062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417320" y="4123944"/>
            <a:ext cx="996696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Recunoaștere plăcuțe (ANPR)</a:t>
            </a:r>
            <a:endParaRPr lang="en-US" sz="1500" dirty="0"/>
          </a:p>
        </p:txBody>
      </p:sp>
      <p:sp>
        <p:nvSpPr>
          <p:cNvPr id="19" name="Text 17"/>
          <p:cNvSpPr/>
          <p:nvPr/>
        </p:nvSpPr>
        <p:spPr>
          <a:xfrm>
            <a:off x="1417320" y="4462272"/>
            <a:ext cx="996696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Acces automat la barieră fără aplicație mobilă</a:t>
            </a:r>
            <a:endParaRPr lang="en-US" sz="1200" dirty="0"/>
          </a:p>
        </p:txBody>
      </p:sp>
      <p:sp>
        <p:nvSpPr>
          <p:cNvPr id="20" name="Shape 18"/>
          <p:cNvSpPr/>
          <p:nvPr/>
        </p:nvSpPr>
        <p:spPr>
          <a:xfrm>
            <a:off x="548640" y="5157216"/>
            <a:ext cx="11064240" cy="1005840"/>
          </a:xfrm>
          <a:prstGeom prst="roundRect">
            <a:avLst>
              <a:gd name="adj" fmla="val 7273"/>
            </a:avLst>
          </a:prstGeom>
          <a:solidFill>
            <a:srgbClr val="FFFFFF"/>
          </a:solidFill>
          <a:ln w="12700">
            <a:solidFill>
              <a:srgbClr val="DDE5D8"/>
            </a:solidFill>
            <a:prstDash val="solid"/>
          </a:ln>
        </p:spPr>
      </p:sp>
      <p:sp>
        <p:nvSpPr>
          <p:cNvPr id="21" name="Shape 19"/>
          <p:cNvSpPr/>
          <p:nvPr/>
        </p:nvSpPr>
        <p:spPr>
          <a:xfrm>
            <a:off x="777240" y="5449824"/>
            <a:ext cx="420624" cy="420624"/>
          </a:xfrm>
          <a:prstGeom prst="ellipse">
            <a:avLst/>
          </a:prstGeom>
          <a:solidFill>
            <a:srgbClr val="5B8C3E"/>
          </a:solidFill>
          <a:ln/>
        </p:spPr>
      </p:sp>
      <p:sp>
        <p:nvSpPr>
          <p:cNvPr id="22" name="Text 20"/>
          <p:cNvSpPr/>
          <p:nvPr/>
        </p:nvSpPr>
        <p:spPr>
          <a:xfrm>
            <a:off x="777240" y="5449824"/>
            <a:ext cx="420624" cy="420624"/>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417320" y="5294376"/>
            <a:ext cx="996696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Platformă SaaS multi-tenant</a:t>
            </a:r>
            <a:endParaRPr lang="en-US" sz="1500" dirty="0"/>
          </a:p>
        </p:txBody>
      </p:sp>
      <p:sp>
        <p:nvSpPr>
          <p:cNvPr id="24" name="Text 22"/>
          <p:cNvSpPr/>
          <p:nvPr/>
        </p:nvSpPr>
        <p:spPr>
          <a:xfrm>
            <a:off x="1417320" y="5632704"/>
            <a:ext cx="996696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Gestionarea mai multor parcări dintr-un sistem central</a:t>
            </a:r>
            <a:endParaRPr lang="en-US" sz="1200" dirty="0"/>
          </a:p>
        </p:txBody>
      </p:sp>
      <p:sp>
        <p:nvSpPr>
          <p:cNvPr id="25" name="Text 23"/>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26" name="Text 24"/>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5B8C3E"/>
                </a:solidFill>
                <a:latin typeface="Calibri" pitchFamily="34" charset="0"/>
                <a:ea typeface="Calibri" pitchFamily="34" charset="-122"/>
                <a:cs typeface="Calibri" pitchFamily="34" charset="-120"/>
              </a:rPr>
              <a:t>09 · CONCLUZII</a:t>
            </a:r>
            <a:endParaRPr lang="en-US" sz="1300" dirty="0"/>
          </a:p>
        </p:txBody>
      </p:sp>
      <p:sp>
        <p:nvSpPr>
          <p:cNvPr id="3" name="Text 1"/>
          <p:cNvSpPr/>
          <p:nvPr/>
        </p:nvSpPr>
        <p:spPr>
          <a:xfrm>
            <a:off x="548640" y="713232"/>
            <a:ext cx="10972800" cy="640080"/>
          </a:xfrm>
          <a:prstGeom prst="rect">
            <a:avLst/>
          </a:prstGeom>
          <a:noFill/>
          <a:ln/>
        </p:spPr>
        <p:txBody>
          <a:bodyPr wrap="square" rtlCol="0" anchor="ctr"/>
          <a:lstStyle/>
          <a:p>
            <a:pPr indent="0" marL="0">
              <a:buNone/>
            </a:pPr>
            <a:r>
              <a:rPr lang="en-US" sz="2800" b="1" dirty="0">
                <a:solidFill>
                  <a:srgbClr val="2C5F2D"/>
                </a:solidFill>
                <a:latin typeface="Calibri" pitchFamily="34" charset="0"/>
                <a:ea typeface="Calibri" pitchFamily="34" charset="-122"/>
                <a:cs typeface="Calibri" pitchFamily="34" charset="-120"/>
              </a:rPr>
              <a:t>Concluzii</a:t>
            </a:r>
            <a:endParaRPr lang="en-US" sz="2800" dirty="0"/>
          </a:p>
        </p:txBody>
      </p:sp>
      <p:sp>
        <p:nvSpPr>
          <p:cNvPr id="4" name="Shape 2"/>
          <p:cNvSpPr/>
          <p:nvPr/>
        </p:nvSpPr>
        <p:spPr>
          <a:xfrm>
            <a:off x="594360" y="1371600"/>
            <a:ext cx="2011680" cy="0"/>
          </a:xfrm>
          <a:prstGeom prst="line">
            <a:avLst/>
          </a:prstGeom>
          <a:noFill/>
          <a:ln w="38100">
            <a:solidFill>
              <a:srgbClr val="5B8C3E"/>
            </a:solidFill>
            <a:prstDash val="solid"/>
          </a:ln>
        </p:spPr>
      </p:sp>
      <p:sp>
        <p:nvSpPr>
          <p:cNvPr id="5" name="Shape 3"/>
          <p:cNvSpPr/>
          <p:nvPr/>
        </p:nvSpPr>
        <p:spPr>
          <a:xfrm>
            <a:off x="548640" y="1737360"/>
            <a:ext cx="11064240" cy="914400"/>
          </a:xfrm>
          <a:prstGeom prst="roundRect">
            <a:avLst>
              <a:gd name="adj" fmla="val 8000"/>
            </a:avLst>
          </a:prstGeom>
          <a:solidFill>
            <a:srgbClr val="FFFFFF"/>
          </a:solidFill>
          <a:ln w="12700">
            <a:solidFill>
              <a:srgbClr val="DDE5D8"/>
            </a:solidFill>
            <a:prstDash val="solid"/>
          </a:ln>
        </p:spPr>
      </p:sp>
      <p:sp>
        <p:nvSpPr>
          <p:cNvPr id="6" name="Text 4"/>
          <p:cNvSpPr/>
          <p:nvPr/>
        </p:nvSpPr>
        <p:spPr>
          <a:xfrm>
            <a:off x="777240" y="1965960"/>
            <a:ext cx="548640" cy="457200"/>
          </a:xfrm>
          <a:prstGeom prst="rect">
            <a:avLst/>
          </a:prstGeom>
          <a:noFill/>
          <a:ln/>
        </p:spPr>
        <p:txBody>
          <a:bodyPr wrap="square" rtlCol="0" anchor="ctr"/>
          <a:lstStyle/>
          <a:p>
            <a:pPr algn="ctr" indent="0" marL="0">
              <a:buNone/>
            </a:pPr>
            <a:r>
              <a:rPr lang="en-US" sz="2200" b="1" dirty="0">
                <a:solidFill>
                  <a:srgbClr val="5B8C3E"/>
                </a:solidFill>
              </a:rPr>
              <a:t>✓</a:t>
            </a:r>
            <a:endParaRPr lang="en-US" sz="2200" dirty="0"/>
          </a:p>
        </p:txBody>
      </p:sp>
      <p:sp>
        <p:nvSpPr>
          <p:cNvPr id="7" name="Text 5"/>
          <p:cNvSpPr/>
          <p:nvPr/>
        </p:nvSpPr>
        <p:spPr>
          <a:xfrm>
            <a:off x="1463040" y="1828800"/>
            <a:ext cx="9966960" cy="731520"/>
          </a:xfrm>
          <a:prstGeom prst="rect">
            <a:avLst/>
          </a:prstGeom>
          <a:noFill/>
          <a:ln/>
        </p:spPr>
        <p:txBody>
          <a:bodyPr wrap="square" rtlCol="0" anchor="ctr"/>
          <a:lstStyle/>
          <a:p>
            <a:pPr indent="0" marL="0">
              <a:lnSpc>
                <a:spcPct val="110000"/>
              </a:lnSpc>
              <a:buNone/>
            </a:pPr>
            <a:r>
              <a:rPr lang="en-US" sz="1400" dirty="0">
                <a:solidFill>
                  <a:srgbClr val="1A2E1A"/>
                </a:solidFill>
                <a:latin typeface="Calibri" pitchFamily="34" charset="0"/>
                <a:ea typeface="Calibri" pitchFamily="34" charset="-122"/>
                <a:cs typeface="Calibri" pitchFamily="34" charset="-120"/>
              </a:rPr>
              <a:t>A fost proiectat și implementat un sistem Smart Parking funcțional, validat pe o machetă fizică reală.</a:t>
            </a:r>
            <a:endParaRPr lang="en-US" sz="1400" dirty="0"/>
          </a:p>
        </p:txBody>
      </p:sp>
      <p:sp>
        <p:nvSpPr>
          <p:cNvPr id="8" name="Shape 6"/>
          <p:cNvSpPr/>
          <p:nvPr/>
        </p:nvSpPr>
        <p:spPr>
          <a:xfrm>
            <a:off x="548640" y="2834640"/>
            <a:ext cx="11064240" cy="914400"/>
          </a:xfrm>
          <a:prstGeom prst="roundRect">
            <a:avLst>
              <a:gd name="adj" fmla="val 8000"/>
            </a:avLst>
          </a:prstGeom>
          <a:solidFill>
            <a:srgbClr val="F4F7F1"/>
          </a:solidFill>
          <a:ln w="12700">
            <a:solidFill>
              <a:srgbClr val="DDE5D8"/>
            </a:solidFill>
            <a:prstDash val="solid"/>
          </a:ln>
        </p:spPr>
      </p:sp>
      <p:sp>
        <p:nvSpPr>
          <p:cNvPr id="9" name="Text 7"/>
          <p:cNvSpPr/>
          <p:nvPr/>
        </p:nvSpPr>
        <p:spPr>
          <a:xfrm>
            <a:off x="777240" y="3063240"/>
            <a:ext cx="548640" cy="457200"/>
          </a:xfrm>
          <a:prstGeom prst="rect">
            <a:avLst/>
          </a:prstGeom>
          <a:noFill/>
          <a:ln/>
        </p:spPr>
        <p:txBody>
          <a:bodyPr wrap="square" rtlCol="0" anchor="ctr"/>
          <a:lstStyle/>
          <a:p>
            <a:pPr algn="ctr" indent="0" marL="0">
              <a:buNone/>
            </a:pPr>
            <a:r>
              <a:rPr lang="en-US" sz="2200" b="1" dirty="0">
                <a:solidFill>
                  <a:srgbClr val="5B8C3E"/>
                </a:solidFill>
              </a:rPr>
              <a:t>✓</a:t>
            </a:r>
            <a:endParaRPr lang="en-US" sz="2200" dirty="0"/>
          </a:p>
        </p:txBody>
      </p:sp>
      <p:sp>
        <p:nvSpPr>
          <p:cNvPr id="10" name="Text 8"/>
          <p:cNvSpPr/>
          <p:nvPr/>
        </p:nvSpPr>
        <p:spPr>
          <a:xfrm>
            <a:off x="1463040" y="2926080"/>
            <a:ext cx="9966960" cy="731520"/>
          </a:xfrm>
          <a:prstGeom prst="rect">
            <a:avLst/>
          </a:prstGeom>
          <a:noFill/>
          <a:ln/>
        </p:spPr>
        <p:txBody>
          <a:bodyPr wrap="square" rtlCol="0" anchor="ctr"/>
          <a:lstStyle/>
          <a:p>
            <a:pPr indent="0" marL="0">
              <a:lnSpc>
                <a:spcPct val="110000"/>
              </a:lnSpc>
              <a:buNone/>
            </a:pPr>
            <a:r>
              <a:rPr lang="en-US" sz="1400" dirty="0">
                <a:solidFill>
                  <a:srgbClr val="1A2E1A"/>
                </a:solidFill>
                <a:latin typeface="Calibri" pitchFamily="34" charset="0"/>
                <a:ea typeface="Calibri" pitchFamily="34" charset="-122"/>
                <a:cs typeface="Calibri" pitchFamily="34" charset="-120"/>
              </a:rPr>
              <a:t>Sistemul integrează hardware, procesare video și o aplicație mobilă completă, comunicând în timp real prin MQTT și WebSocket.</a:t>
            </a:r>
            <a:endParaRPr lang="en-US" sz="1400" dirty="0"/>
          </a:p>
        </p:txBody>
      </p:sp>
      <p:sp>
        <p:nvSpPr>
          <p:cNvPr id="11" name="Shape 9"/>
          <p:cNvSpPr/>
          <p:nvPr/>
        </p:nvSpPr>
        <p:spPr>
          <a:xfrm>
            <a:off x="548640" y="3931920"/>
            <a:ext cx="11064240" cy="914400"/>
          </a:xfrm>
          <a:prstGeom prst="roundRect">
            <a:avLst>
              <a:gd name="adj" fmla="val 8000"/>
            </a:avLst>
          </a:prstGeom>
          <a:solidFill>
            <a:srgbClr val="FFFFFF"/>
          </a:solidFill>
          <a:ln w="12700">
            <a:solidFill>
              <a:srgbClr val="DDE5D8"/>
            </a:solidFill>
            <a:prstDash val="solid"/>
          </a:ln>
        </p:spPr>
      </p:sp>
      <p:sp>
        <p:nvSpPr>
          <p:cNvPr id="12" name="Text 10"/>
          <p:cNvSpPr/>
          <p:nvPr/>
        </p:nvSpPr>
        <p:spPr>
          <a:xfrm>
            <a:off x="777240" y="4160520"/>
            <a:ext cx="548640" cy="457200"/>
          </a:xfrm>
          <a:prstGeom prst="rect">
            <a:avLst/>
          </a:prstGeom>
          <a:noFill/>
          <a:ln/>
        </p:spPr>
        <p:txBody>
          <a:bodyPr wrap="square" rtlCol="0" anchor="ctr"/>
          <a:lstStyle/>
          <a:p>
            <a:pPr algn="ctr" indent="0" marL="0">
              <a:buNone/>
            </a:pPr>
            <a:r>
              <a:rPr lang="en-US" sz="2200" b="1" dirty="0">
                <a:solidFill>
                  <a:srgbClr val="5B8C3E"/>
                </a:solidFill>
              </a:rPr>
              <a:t>✓</a:t>
            </a:r>
            <a:endParaRPr lang="en-US" sz="2200" dirty="0"/>
          </a:p>
        </p:txBody>
      </p:sp>
      <p:sp>
        <p:nvSpPr>
          <p:cNvPr id="13" name="Text 11"/>
          <p:cNvSpPr/>
          <p:nvPr/>
        </p:nvSpPr>
        <p:spPr>
          <a:xfrm>
            <a:off x="1463040" y="4023360"/>
            <a:ext cx="9966960" cy="731520"/>
          </a:xfrm>
          <a:prstGeom prst="rect">
            <a:avLst/>
          </a:prstGeom>
          <a:noFill/>
          <a:ln/>
        </p:spPr>
        <p:txBody>
          <a:bodyPr wrap="square" rtlCol="0" anchor="ctr"/>
          <a:lstStyle/>
          <a:p>
            <a:pPr indent="0" marL="0">
              <a:lnSpc>
                <a:spcPct val="110000"/>
              </a:lnSpc>
              <a:buNone/>
            </a:pPr>
            <a:r>
              <a:rPr lang="en-US" sz="1400" dirty="0">
                <a:solidFill>
                  <a:srgbClr val="1A2E1A"/>
                </a:solidFill>
                <a:latin typeface="Calibri" pitchFamily="34" charset="0"/>
                <a:ea typeface="Calibri" pitchFamily="34" charset="-122"/>
                <a:cs typeface="Calibri" pitchFamily="34" charset="-120"/>
              </a:rPr>
              <a:t>Rezervarea locurilor și ghidajul luminos sunt deja funcționale, cu tarif configurabil de către administrator.</a:t>
            </a:r>
            <a:endParaRPr lang="en-US" sz="1400" dirty="0"/>
          </a:p>
        </p:txBody>
      </p:sp>
      <p:sp>
        <p:nvSpPr>
          <p:cNvPr id="14" name="Shape 12"/>
          <p:cNvSpPr/>
          <p:nvPr/>
        </p:nvSpPr>
        <p:spPr>
          <a:xfrm>
            <a:off x="548640" y="5029200"/>
            <a:ext cx="11064240" cy="914400"/>
          </a:xfrm>
          <a:prstGeom prst="roundRect">
            <a:avLst>
              <a:gd name="adj" fmla="val 8000"/>
            </a:avLst>
          </a:prstGeom>
          <a:solidFill>
            <a:srgbClr val="F4F7F1"/>
          </a:solidFill>
          <a:ln w="12700">
            <a:solidFill>
              <a:srgbClr val="DDE5D8"/>
            </a:solidFill>
            <a:prstDash val="solid"/>
          </a:ln>
        </p:spPr>
      </p:sp>
      <p:sp>
        <p:nvSpPr>
          <p:cNvPr id="15" name="Text 13"/>
          <p:cNvSpPr/>
          <p:nvPr/>
        </p:nvSpPr>
        <p:spPr>
          <a:xfrm>
            <a:off x="777240" y="5257800"/>
            <a:ext cx="548640" cy="457200"/>
          </a:xfrm>
          <a:prstGeom prst="rect">
            <a:avLst/>
          </a:prstGeom>
          <a:noFill/>
          <a:ln/>
        </p:spPr>
        <p:txBody>
          <a:bodyPr wrap="square" rtlCol="0" anchor="ctr"/>
          <a:lstStyle/>
          <a:p>
            <a:pPr algn="ctr" indent="0" marL="0">
              <a:buNone/>
            </a:pPr>
            <a:r>
              <a:rPr lang="en-US" sz="2200" b="1" dirty="0">
                <a:solidFill>
                  <a:srgbClr val="5B8C3E"/>
                </a:solidFill>
              </a:rPr>
              <a:t>✓</a:t>
            </a:r>
            <a:endParaRPr lang="en-US" sz="2200" dirty="0"/>
          </a:p>
        </p:txBody>
      </p:sp>
      <p:sp>
        <p:nvSpPr>
          <p:cNvPr id="16" name="Text 14"/>
          <p:cNvSpPr/>
          <p:nvPr/>
        </p:nvSpPr>
        <p:spPr>
          <a:xfrm>
            <a:off x="1463040" y="5120640"/>
            <a:ext cx="9966960" cy="731520"/>
          </a:xfrm>
          <a:prstGeom prst="rect">
            <a:avLst/>
          </a:prstGeom>
          <a:noFill/>
          <a:ln/>
        </p:spPr>
        <p:txBody>
          <a:bodyPr wrap="square" rtlCol="0" anchor="ctr"/>
          <a:lstStyle/>
          <a:p>
            <a:pPr indent="0" marL="0">
              <a:lnSpc>
                <a:spcPct val="110000"/>
              </a:lnSpc>
              <a:buNone/>
            </a:pPr>
            <a:r>
              <a:rPr lang="en-US" sz="1400" dirty="0">
                <a:solidFill>
                  <a:srgbClr val="1A2E1A"/>
                </a:solidFill>
                <a:latin typeface="Calibri" pitchFamily="34" charset="0"/>
                <a:ea typeface="Calibri" pitchFamily="34" charset="-122"/>
                <a:cs typeface="Calibri" pitchFamily="34" charset="-120"/>
              </a:rPr>
              <a:t>Arhitectura modulară permite extinderea naturală spre detecție AI, navigare indoor și o platformă SaaS.</a:t>
            </a:r>
            <a:endParaRPr lang="en-US" sz="1400" dirty="0"/>
          </a:p>
        </p:txBody>
      </p:sp>
      <p:sp>
        <p:nvSpPr>
          <p:cNvPr id="17" name="Text 15"/>
          <p:cNvSpPr/>
          <p:nvPr/>
        </p:nvSpPr>
        <p:spPr>
          <a:xfrm>
            <a:off x="365760" y="6446520"/>
            <a:ext cx="8229600" cy="274320"/>
          </a:xfrm>
          <a:prstGeom prst="rect">
            <a:avLst/>
          </a:prstGeom>
          <a:noFill/>
          <a:ln/>
        </p:spPr>
        <p:txBody>
          <a:bodyPr wrap="square" rtlCol="0" anchor="ctr"/>
          <a:lstStyle/>
          <a:p>
            <a:pPr indent="0" marL="0">
              <a:buNone/>
            </a:pPr>
            <a:r>
              <a:rPr lang="en-US" sz="900" dirty="0">
                <a:solidFill>
                  <a:srgbClr val="5A6B5A"/>
                </a:solidFill>
                <a:latin typeface="Calibri" pitchFamily="34" charset="0"/>
                <a:ea typeface="Calibri" pitchFamily="34" charset="-122"/>
                <a:cs typeface="Calibri" pitchFamily="34" charset="-120"/>
              </a:rPr>
              <a:t>UTCB · Facultatea de Hidroinginerie și Managementul Resurselor de Apă</a:t>
            </a:r>
            <a:endParaRPr lang="en-US" sz="900" dirty="0"/>
          </a:p>
        </p:txBody>
      </p:sp>
      <p:sp>
        <p:nvSpPr>
          <p:cNvPr id="18" name="Text 16"/>
          <p:cNvSpPr/>
          <p:nvPr/>
        </p:nvSpPr>
        <p:spPr>
          <a:xfrm>
            <a:off x="11430000" y="6446520"/>
            <a:ext cx="457200" cy="274320"/>
          </a:xfrm>
          <a:prstGeom prst="rect">
            <a:avLst/>
          </a:prstGeom>
          <a:noFill/>
          <a:ln/>
        </p:spPr>
        <p:txBody>
          <a:bodyPr wrap="square" rtlCol="0" anchor="ctr"/>
          <a:lstStyle/>
          <a:p>
            <a:pPr algn="r" indent="0" marL="0">
              <a:buNone/>
            </a:pPr>
            <a:r>
              <a:rPr lang="en-US" sz="900" dirty="0">
                <a:solidFill>
                  <a:srgbClr val="5A6B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E1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5B8C3E"/>
          </a:solidFill>
          <a:ln/>
        </p:spPr>
      </p:sp>
      <p:sp>
        <p:nvSpPr>
          <p:cNvPr id="3" name="Text 1"/>
          <p:cNvSpPr/>
          <p:nvPr/>
        </p:nvSpPr>
        <p:spPr>
          <a:xfrm>
            <a:off x="731520" y="2377440"/>
            <a:ext cx="10058400" cy="109728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Vă mulțumesc!</a:t>
            </a:r>
            <a:endParaRPr lang="en-US" sz="4800" dirty="0"/>
          </a:p>
        </p:txBody>
      </p:sp>
      <p:sp>
        <p:nvSpPr>
          <p:cNvPr id="4" name="Shape 2"/>
          <p:cNvSpPr/>
          <p:nvPr/>
        </p:nvSpPr>
        <p:spPr>
          <a:xfrm>
            <a:off x="777240" y="3566160"/>
            <a:ext cx="3657600" cy="0"/>
          </a:xfrm>
          <a:prstGeom prst="line">
            <a:avLst/>
          </a:prstGeom>
          <a:noFill/>
          <a:ln w="25400">
            <a:solidFill>
              <a:srgbClr val="5B8C3E"/>
            </a:solidFill>
            <a:prstDash val="solid"/>
          </a:ln>
        </p:spPr>
      </p:sp>
      <p:sp>
        <p:nvSpPr>
          <p:cNvPr id="5" name="Text 3"/>
          <p:cNvSpPr/>
          <p:nvPr/>
        </p:nvSpPr>
        <p:spPr>
          <a:xfrm>
            <a:off x="731520" y="3840480"/>
            <a:ext cx="10058400" cy="457200"/>
          </a:xfrm>
          <a:prstGeom prst="rect">
            <a:avLst/>
          </a:prstGeom>
          <a:noFill/>
          <a:ln/>
        </p:spPr>
        <p:txBody>
          <a:bodyPr wrap="square" rtlCol="0" anchor="ctr"/>
          <a:lstStyle/>
          <a:p>
            <a:pPr indent="0" marL="0">
              <a:buNone/>
            </a:pPr>
            <a:r>
              <a:rPr lang="en-US" sz="1800" dirty="0">
                <a:solidFill>
                  <a:srgbClr val="8FBC5A"/>
                </a:solidFill>
                <a:latin typeface="Calibri" pitchFamily="34" charset="0"/>
                <a:ea typeface="Calibri" pitchFamily="34" charset="-122"/>
                <a:cs typeface="Calibri" pitchFamily="34" charset="-120"/>
              </a:rPr>
              <a:t>Întrebări și discuții</a:t>
            </a:r>
            <a:endParaRPr lang="en-US" sz="1800" dirty="0"/>
          </a:p>
        </p:txBody>
      </p:sp>
      <p:sp>
        <p:nvSpPr>
          <p:cNvPr id="6" name="Text 4"/>
          <p:cNvSpPr/>
          <p:nvPr/>
        </p:nvSpPr>
        <p:spPr>
          <a:xfrm>
            <a:off x="731520" y="5943600"/>
            <a:ext cx="10058400" cy="365760"/>
          </a:xfrm>
          <a:prstGeom prst="rect">
            <a:avLst/>
          </a:prstGeom>
          <a:noFill/>
          <a:ln/>
        </p:spPr>
        <p:txBody>
          <a:bodyPr wrap="square" rtlCol="0" anchor="ctr"/>
          <a:lstStyle/>
          <a:p>
            <a:pPr indent="0" marL="0">
              <a:buNone/>
            </a:pPr>
            <a:r>
              <a:rPr lang="en-US" sz="1300" dirty="0">
                <a:solidFill>
                  <a:srgbClr val="9AB89A"/>
                </a:solidFill>
                <a:latin typeface="Calibri" pitchFamily="34" charset="0"/>
                <a:ea typeface="Calibri" pitchFamily="34" charset="-122"/>
                <a:cs typeface="Calibri" pitchFamily="34" charset="-120"/>
              </a:rPr>
              <a:t>David Andrei · Lucrare de licență ·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2026-06-17T07:55:18Z</dcterms:created>
  <dcterms:modified xsi:type="dcterms:W3CDTF">2026-06-17T07:55:18Z</dcterms:modified>
</cp:coreProperties>
</file>